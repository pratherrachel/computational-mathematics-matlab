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7"/>
  </p:notesMasterIdLst>
  <p:sldIdLst>
    <p:sldId id="306" r:id="rId5"/>
    <p:sldId id="307" r:id="rId6"/>
    <p:sldId id="308" r:id="rId7"/>
    <p:sldId id="310" r:id="rId8"/>
    <p:sldId id="294" r:id="rId9"/>
    <p:sldId id="295" r:id="rId10"/>
    <p:sldId id="313" r:id="rId11"/>
    <p:sldId id="314" r:id="rId12"/>
    <p:sldId id="315" r:id="rId13"/>
    <p:sldId id="311" r:id="rId14"/>
    <p:sldId id="303" r:id="rId15"/>
    <p:sldId id="3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3" autoAdjust="0"/>
    <p:restoredTop sz="84967" autoAdjust="0"/>
  </p:normalViewPr>
  <p:slideViewPr>
    <p:cSldViewPr snapToGrid="0">
      <p:cViewPr>
        <p:scale>
          <a:sx n="97" d="100"/>
          <a:sy n="97" d="100"/>
        </p:scale>
        <p:origin x="475" y="37"/>
      </p:cViewPr>
      <p:guideLst>
        <p:guide orient="horz" pos="1392"/>
        <p:guide pos="7056"/>
        <p:guide orient="horz" pos="31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12/4/2022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8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98448" y="594360"/>
            <a:ext cx="6272784" cy="2843784"/>
          </a:xfrm>
        </p:spPr>
        <p:txBody>
          <a:bodyPr anchor="b"/>
          <a:lstStyle>
            <a:lvl1pPr algn="l">
              <a:defRPr sz="5400" b="1" i="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5641848" y="4700016"/>
            <a:ext cx="5093208" cy="1197864"/>
          </a:xfrm>
        </p:spPr>
        <p:txBody>
          <a:bodyPr>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8E825845-66DD-4B77-A729-CD97D156FE6C}"/>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213790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p:nvPr>
        </p:nvSpPr>
        <p:spPr>
          <a:xfrm>
            <a:off x="1366432"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anchor="ctr">
            <a:noAutofit/>
          </a:bodyPr>
          <a:lstStyle>
            <a:lvl1pPr algn="ctr">
              <a:buNone/>
              <a:defRPr sz="1600" b="1">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202936" y="585216"/>
            <a:ext cx="5833872" cy="2276856"/>
          </a:xfrm>
        </p:spPr>
        <p:txBody>
          <a:bodyPr anchor="b"/>
          <a:lstStyle>
            <a:lvl1pPr algn="r">
              <a:defRPr sz="6000" b="1" cap="all" spc="400" baseline="0">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a:lstStyle>
            <a:lvl1pPr>
              <a:defRPr>
                <a:solidFill>
                  <a:schemeClr val="bg1"/>
                </a:solidFill>
              </a:defRPr>
            </a:lvl1pPr>
          </a:lstStyle>
          <a:p>
            <a:r>
              <a:rPr lang="en-US" dirty="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202936" y="3127248"/>
            <a:ext cx="5833872" cy="3118104"/>
          </a:xfrm>
        </p:spPr>
        <p:txBody>
          <a:bodyPr/>
          <a:lstStyle>
            <a:lvl1pPr marL="0" indent="0" algn="r">
              <a:buNone/>
              <a:defRPr sz="1800">
                <a:solidFill>
                  <a:schemeClr val="bg1"/>
                </a:solidFill>
              </a:defRPr>
            </a:lvl1pPr>
          </a:lstStyle>
          <a:p>
            <a:pPr lvl="0"/>
            <a:r>
              <a:rPr lang="en-US"/>
              <a:t>Click to edit Master text styles</a:t>
            </a:r>
          </a:p>
        </p:txBody>
      </p:sp>
      <p:sp>
        <p:nvSpPr>
          <p:cNvPr id="11" name="Graphic 12">
            <a:extLst>
              <a:ext uri="{FF2B5EF4-FFF2-40B4-BE49-F238E27FC236}">
                <a16:creationId xmlns:a16="http://schemas.microsoft.com/office/drawing/2014/main" id="{EA1B6985-3E5A-40F4-9268-D4AB3BBF8C9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Lst>
          </p:cNvPr>
          <p:cNvSpPr/>
          <p:nvPr userDrawn="1"/>
        </p:nvSpPr>
        <p:spPr>
          <a:xfrm>
            <a:off x="1669987"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p:nvPr>
        </p:nvSpPr>
        <p:spPr>
          <a:xfrm>
            <a:off x="7451965" y="1665520"/>
            <a:ext cx="4266960" cy="426696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a:xfrm>
            <a:off x="804672" y="1335024"/>
            <a:ext cx="6190488" cy="1179576"/>
          </a:xfrm>
        </p:spPr>
        <p:txBody>
          <a:bodyPr lIns="91440" tIns="45720" rIns="91440" bIns="45720" anchor="b"/>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850392" y="2825496"/>
            <a:ext cx="6190488" cy="3346704"/>
          </a:xfrm>
        </p:spPr>
        <p:txBody>
          <a:bodyPr/>
          <a:lstStyle>
            <a:lvl1pPr marL="0" indent="0">
              <a:lnSpc>
                <a:spcPct val="110000"/>
              </a:lnSpc>
              <a:buNone/>
              <a:defRPr sz="2000"/>
            </a:lvl1pPr>
            <a:lvl2pPr marL="228600">
              <a:defRPr sz="1800"/>
            </a:lvl2pPr>
            <a:lvl3pPr marL="457200">
              <a:defRPr sz="1600"/>
            </a:lvl3pPr>
            <a:lvl4pPr marL="685800">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solidFill>
                  <a:schemeClr val="accent2"/>
                </a:solidFill>
              </a:defRPr>
            </a:lvl1pPr>
          </a:lstStyle>
          <a:p>
            <a:r>
              <a:rPr lang="en-US" dirty="0"/>
              <a:t>9/3/20XX</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7964424" y="621792"/>
            <a:ext cx="4114800" cy="365125"/>
          </a:xfrm>
        </p:spPr>
        <p:txBody>
          <a:bodyPr/>
          <a:lstStyle>
            <a:lvl1pPr>
              <a:defRPr baseline="0">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9" name="Straight Connector 8">
            <a:extLst>
              <a:ext uri="{FF2B5EF4-FFF2-40B4-BE49-F238E27FC236}">
                <a16:creationId xmlns:a16="http://schemas.microsoft.com/office/drawing/2014/main" id="{FA8B3D0E-ED3F-46FA-AE79-5FEFDE9168E3}"/>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7" name="Graphic 10">
            <a:extLst>
              <a:ext uri="{FF2B5EF4-FFF2-40B4-BE49-F238E27FC236}">
                <a16:creationId xmlns:a16="http://schemas.microsoft.com/office/drawing/2014/main" id="{AAD06B87-D9B2-4F94-B734-A8F039A2033F}"/>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Tree>
    <p:extLst>
      <p:ext uri="{BB962C8B-B14F-4D97-AF65-F5344CB8AC3E}">
        <p14:creationId xmlns:p14="http://schemas.microsoft.com/office/powerpoint/2010/main" val="189711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Header">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463040"/>
            <a:ext cx="9144000" cy="2340864"/>
          </a:xfrm>
        </p:spPr>
        <p:txBody>
          <a:bodyPr anchor="b">
            <a:normAutofit/>
          </a:bodyPr>
          <a:lstStyle>
            <a:lvl1pPr algn="ctr">
              <a:defRPr sz="6000" b="1" i="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7048" y="3858768"/>
            <a:ext cx="9144000" cy="1325880"/>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Graphic 12">
            <a:extLst>
              <a:ext uri="{FF2B5EF4-FFF2-40B4-BE49-F238E27FC236}">
                <a16:creationId xmlns:a16="http://schemas.microsoft.com/office/drawing/2014/main" id="{8A41917E-4B97-447C-98AB-970D625F1DE6}"/>
              </a:ext>
            </a:extLst>
          </p:cNvPr>
          <p:cNvSpPr/>
          <p:nvPr userDrawn="1"/>
        </p:nvSpPr>
        <p:spPr>
          <a:xfrm>
            <a:off x="10772266" y="30543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3B3FD238-4561-4AF8-A1F1-185B0CAFE2AC}"/>
              </a:ext>
            </a:extLst>
          </p:cNvPr>
          <p:cNvSpPr/>
          <p:nvPr userDrawn="1"/>
        </p:nvSpPr>
        <p:spPr>
          <a:xfrm>
            <a:off x="10724364" y="2515838"/>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BAB9414C-AE69-4648-873E-9CE6B2DF8A71}"/>
              </a:ext>
            </a:extLst>
          </p:cNvPr>
          <p:cNvSpPr/>
          <p:nvPr userDrawn="1"/>
        </p:nvSpPr>
        <p:spPr>
          <a:xfrm>
            <a:off x="11024834" y="2787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Graphic 22">
            <a:extLst>
              <a:ext uri="{FF2B5EF4-FFF2-40B4-BE49-F238E27FC236}">
                <a16:creationId xmlns:a16="http://schemas.microsoft.com/office/drawing/2014/main" id="{3BF75235-4E6E-4184-82A5-EE6FE7993BBC}"/>
              </a:ext>
            </a:extLst>
          </p:cNvPr>
          <p:cNvSpPr/>
          <p:nvPr userDrawn="1"/>
        </p:nvSpPr>
        <p:spPr>
          <a:xfrm>
            <a:off x="1261869" y="263344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1">
            <a:extLst>
              <a:ext uri="{FF2B5EF4-FFF2-40B4-BE49-F238E27FC236}">
                <a16:creationId xmlns:a16="http://schemas.microsoft.com/office/drawing/2014/main" id="{E66FE37C-2F4B-42DA-BFF6-92DD00BDC49B}"/>
              </a:ext>
            </a:extLst>
          </p:cNvPr>
          <p:cNvSpPr/>
          <p:nvPr userDrawn="1"/>
        </p:nvSpPr>
        <p:spPr>
          <a:xfrm>
            <a:off x="1064053" y="3083338"/>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dirty="0"/>
          </a:p>
        </p:txBody>
      </p:sp>
      <p:sp>
        <p:nvSpPr>
          <p:cNvPr id="13" name="Graphic 23">
            <a:extLst>
              <a:ext uri="{FF2B5EF4-FFF2-40B4-BE49-F238E27FC236}">
                <a16:creationId xmlns:a16="http://schemas.microsoft.com/office/drawing/2014/main" id="{DDD38822-731A-48DA-A8A0-FBBAF7A6D65D}"/>
              </a:ext>
            </a:extLst>
          </p:cNvPr>
          <p:cNvSpPr/>
          <p:nvPr userDrawn="1"/>
        </p:nvSpPr>
        <p:spPr>
          <a:xfrm>
            <a:off x="1413405" y="349287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344248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74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6391656" y="841248"/>
            <a:ext cx="4434840" cy="3236976"/>
          </a:xfrm>
        </p:spPr>
        <p:txBody>
          <a:bodyPr anchor="b"/>
          <a:lstStyle>
            <a:lvl1pPr algn="l">
              <a:lnSpc>
                <a:spcPct val="110000"/>
              </a:lnSpc>
              <a:spcBef>
                <a:spcPts val="1000"/>
              </a:spcBef>
              <a:defRPr sz="3600" b="0" i="0" cap="none"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5" y="4498848"/>
            <a:ext cx="4434835" cy="510474"/>
          </a:xfrm>
        </p:spPr>
        <p:txBody>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01752"/>
            <a:ext cx="5221224" cy="6263640"/>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299048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3_Title and Content">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576072" y="365125"/>
            <a:ext cx="10771632" cy="1325563"/>
          </a:xfrm>
        </p:spPr>
        <p:txBody>
          <a:bodyPr/>
          <a:lstStyle>
            <a:lvl1pPr>
              <a:defRPr sz="5400" b="1" cap="all" baseline="0">
                <a:solidFill>
                  <a:schemeClr val="bg1"/>
                </a:solidFill>
              </a:defRPr>
            </a:lvl1pPr>
          </a:lstStyle>
          <a:p>
            <a:r>
              <a:rPr lang="en-US" dirty="0"/>
              <a:t>Title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576072" y="1825625"/>
            <a:ext cx="10771632"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a:xfrm>
            <a:off x="658368" y="6356350"/>
            <a:ext cx="2743200" cy="365125"/>
          </a:xfrm>
        </p:spPr>
        <p:txBody>
          <a:bodyPr/>
          <a:lstStyle>
            <a:lvl1pPr>
              <a:defRPr>
                <a:solidFill>
                  <a:schemeClr val="bg1"/>
                </a:solidFill>
              </a:defRPr>
            </a:lvl1pPr>
          </a:lstStyle>
          <a:p>
            <a:r>
              <a:rPr lang="en-US" dirty="0"/>
              <a:t>9/3/20XX</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8503920" y="841248"/>
            <a:ext cx="3630168" cy="365125"/>
          </a:xfrm>
        </p:spPr>
        <p:txBody>
          <a:bodyPr/>
          <a:lstStyle>
            <a:lvl1pPr>
              <a:defRPr>
                <a:solidFill>
                  <a:schemeClr val="bg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9" name="Graphic 22">
            <a:extLst>
              <a:ext uri="{FF2B5EF4-FFF2-40B4-BE49-F238E27FC236}">
                <a16:creationId xmlns:a16="http://schemas.microsoft.com/office/drawing/2014/main" id="{4EADA2ED-8A8C-4D17-8798-F26BF3B4CE25}"/>
              </a:ext>
            </a:extLst>
          </p:cNvPr>
          <p:cNvSpPr/>
          <p:nvPr userDrawn="1"/>
        </p:nvSpPr>
        <p:spPr>
          <a:xfrm>
            <a:off x="11202264" y="344083"/>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3">
            <a:extLst>
              <a:ext uri="{FF2B5EF4-FFF2-40B4-BE49-F238E27FC236}">
                <a16:creationId xmlns:a16="http://schemas.microsoft.com/office/drawing/2014/main" id="{54AB3A25-6605-4446-9E53-ACEECD25E27B}"/>
              </a:ext>
            </a:extLst>
          </p:cNvPr>
          <p:cNvSpPr/>
          <p:nvPr userDrawn="1"/>
        </p:nvSpPr>
        <p:spPr>
          <a:xfrm>
            <a:off x="11563141" y="59091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12226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1444752"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784848"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Graphic 15">
            <a:extLst>
              <a:ext uri="{FF2B5EF4-FFF2-40B4-BE49-F238E27FC236}">
                <a16:creationId xmlns:a16="http://schemas.microsoft.com/office/drawing/2014/main" id="{D8685329-C6A1-4CB4-8AAE-150D0341F6A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2" name="Graphic 16">
            <a:extLst>
              <a:ext uri="{FF2B5EF4-FFF2-40B4-BE49-F238E27FC236}">
                <a16:creationId xmlns:a16="http://schemas.microsoft.com/office/drawing/2014/main" id="{83CE1DAA-30A3-41AE-8AE1-A7EE5C48A6F3}"/>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4" name="Graphic 14">
            <a:extLst>
              <a:ext uri="{FF2B5EF4-FFF2-40B4-BE49-F238E27FC236}">
                <a16:creationId xmlns:a16="http://schemas.microsoft.com/office/drawing/2014/main" id="{065162DD-7ACB-4F9C-90DD-24C743035892}"/>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120528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45537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784848" y="1681163"/>
            <a:ext cx="45537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784848" y="2505075"/>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4983480" y="1681163"/>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4983480" y="2505075"/>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5" name="Text Placeholder 4">
            <a:extLst>
              <a:ext uri="{FF2B5EF4-FFF2-40B4-BE49-F238E27FC236}">
                <a16:creationId xmlns:a16="http://schemas.microsoft.com/office/drawing/2014/main" id="{2D693B15-7265-4478-9579-62FCD5222D04}"/>
              </a:ext>
            </a:extLst>
          </p:cNvPr>
          <p:cNvSpPr>
            <a:spLocks noGrp="1"/>
          </p:cNvSpPr>
          <p:nvPr>
            <p:ph type="body" sz="quarter" idx="13"/>
          </p:nvPr>
        </p:nvSpPr>
        <p:spPr>
          <a:xfrm>
            <a:off x="8531352" y="1769269"/>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5">
            <a:extLst>
              <a:ext uri="{FF2B5EF4-FFF2-40B4-BE49-F238E27FC236}">
                <a16:creationId xmlns:a16="http://schemas.microsoft.com/office/drawing/2014/main" id="{48F9E92F-BB16-4896-A47F-6497C3D705B9}"/>
              </a:ext>
            </a:extLst>
          </p:cNvPr>
          <p:cNvSpPr>
            <a:spLocks noGrp="1"/>
          </p:cNvSpPr>
          <p:nvPr>
            <p:ph sz="quarter" idx="14"/>
          </p:nvPr>
        </p:nvSpPr>
        <p:spPr>
          <a:xfrm>
            <a:off x="8531352" y="2593181"/>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73079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391656" y="804672"/>
            <a:ext cx="4434840" cy="886968"/>
          </a:xfrm>
        </p:spPr>
        <p:txBody>
          <a:bodyPr anchor="b"/>
          <a:lstStyle>
            <a:lvl1pPr algn="l">
              <a:defRPr sz="5400" b="0" i="0" cap="none" baseline="0"/>
            </a:lvl1pPr>
          </a:lstStyle>
          <a:p>
            <a:r>
              <a:rPr lang="en-US" dirty="0"/>
              <a:t>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4" y="1801368"/>
            <a:ext cx="4434840" cy="4754880"/>
          </a:xfrm>
        </p:spPr>
        <p:txBody>
          <a:bodyPr>
            <a:normAutofit/>
          </a:bodyPr>
          <a:lstStyle>
            <a:lvl1pPr marL="0" indent="0" algn="l">
              <a:lnSpc>
                <a:spcPct val="11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108960"/>
            <a:ext cx="5221224" cy="3447288"/>
          </a:xfrm>
        </p:spPr>
        <p:txBody>
          <a:bodyPr anchor="ctr"/>
          <a:lstStyle>
            <a:lvl1pPr algn="ctr">
              <a:buNone/>
              <a:defRPr>
                <a:solidFill>
                  <a:schemeClr val="bg1"/>
                </a:solidFill>
              </a:defRPr>
            </a:lvl1pPr>
          </a:lstStyle>
          <a:p>
            <a:r>
              <a:rPr lang="en-US"/>
              <a:t>Click icon to add picture</a:t>
            </a:r>
            <a:endParaRPr lang="en-US" dirty="0"/>
          </a:p>
        </p:txBody>
      </p:sp>
      <p:sp>
        <p:nvSpPr>
          <p:cNvPr id="10" name="Picture Placeholder 12">
            <a:extLst>
              <a:ext uri="{FF2B5EF4-FFF2-40B4-BE49-F238E27FC236}">
                <a16:creationId xmlns:a16="http://schemas.microsoft.com/office/drawing/2014/main" id="{F146D6C1-343E-4F97-A565-55BBB15F4C77}"/>
              </a:ext>
            </a:extLst>
          </p:cNvPr>
          <p:cNvSpPr>
            <a:spLocks noGrp="1"/>
          </p:cNvSpPr>
          <p:nvPr>
            <p:ph type="pic" sz="quarter" idx="14"/>
          </p:nvPr>
        </p:nvSpPr>
        <p:spPr>
          <a:xfrm>
            <a:off x="283464"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
        <p:nvSpPr>
          <p:cNvPr id="11" name="Picture Placeholder 12">
            <a:extLst>
              <a:ext uri="{FF2B5EF4-FFF2-40B4-BE49-F238E27FC236}">
                <a16:creationId xmlns:a16="http://schemas.microsoft.com/office/drawing/2014/main" id="{BA123E2D-4554-47D5-B0EC-0C47EDB41626}"/>
              </a:ext>
            </a:extLst>
          </p:cNvPr>
          <p:cNvSpPr>
            <a:spLocks noGrp="1"/>
          </p:cNvSpPr>
          <p:nvPr>
            <p:ph type="pic" sz="quarter" idx="15"/>
          </p:nvPr>
        </p:nvSpPr>
        <p:spPr>
          <a:xfrm>
            <a:off x="3044952"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25789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3186EA6A-5CD5-4DF7-9C8A-EDFAF28A80D9}"/>
              </a:ext>
            </a:extLst>
          </p:cNvPr>
          <p:cNvSpPr>
            <a:spLocks noGrp="1"/>
          </p:cNvSpPr>
          <p:nvPr>
            <p:ph type="pic" sz="quarter" idx="14"/>
          </p:nvPr>
        </p:nvSpPr>
        <p:spPr>
          <a:xfrm>
            <a:off x="1777111" y="407499"/>
            <a:ext cx="1952279" cy="1952279"/>
          </a:xfrm>
          <a:custGeom>
            <a:avLst/>
            <a:gdLst>
              <a:gd name="connsiteX0" fmla="*/ 976140 w 1952279"/>
              <a:gd name="connsiteY0" fmla="*/ 0 h 1952279"/>
              <a:gd name="connsiteX1" fmla="*/ 1952279 w 1952279"/>
              <a:gd name="connsiteY1" fmla="*/ 976140 h 1952279"/>
              <a:gd name="connsiteX2" fmla="*/ 976140 w 1952279"/>
              <a:gd name="connsiteY2" fmla="*/ 1952279 h 1952279"/>
              <a:gd name="connsiteX3" fmla="*/ 0 w 1952279"/>
              <a:gd name="connsiteY3" fmla="*/ 976140 h 1952279"/>
              <a:gd name="connsiteX4" fmla="*/ 976140 w 1952279"/>
              <a:gd name="connsiteY4" fmla="*/ 0 h 1952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279" h="1952279">
                <a:moveTo>
                  <a:pt x="976140" y="0"/>
                </a:moveTo>
                <a:cubicBezTo>
                  <a:pt x="1515247" y="0"/>
                  <a:pt x="1952279" y="437033"/>
                  <a:pt x="1952279" y="976140"/>
                </a:cubicBezTo>
                <a:cubicBezTo>
                  <a:pt x="1952279" y="1515246"/>
                  <a:pt x="1515247" y="1952279"/>
                  <a:pt x="976140" y="1952279"/>
                </a:cubicBezTo>
                <a:cubicBezTo>
                  <a:pt x="437033" y="1952279"/>
                  <a:pt x="0" y="1515246"/>
                  <a:pt x="0" y="976140"/>
                </a:cubicBezTo>
                <a:cubicBezTo>
                  <a:pt x="0" y="437033"/>
                  <a:pt x="437033" y="0"/>
                  <a:pt x="976140"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83D5117F-F235-498D-99A5-9DE2D665576C}"/>
              </a:ext>
            </a:extLst>
          </p:cNvPr>
          <p:cNvSpPr>
            <a:spLocks noGrp="1"/>
          </p:cNvSpPr>
          <p:nvPr>
            <p:ph type="pic" sz="quarter" idx="15"/>
          </p:nvPr>
        </p:nvSpPr>
        <p:spPr>
          <a:xfrm>
            <a:off x="3528345" y="1972581"/>
            <a:ext cx="2290065" cy="2273502"/>
          </a:xfrm>
          <a:custGeom>
            <a:avLst/>
            <a:gdLst>
              <a:gd name="connsiteX0" fmla="*/ 1145032 w 2290065"/>
              <a:gd name="connsiteY0" fmla="*/ 0 h 2273502"/>
              <a:gd name="connsiteX1" fmla="*/ 2290065 w 2290065"/>
              <a:gd name="connsiteY1" fmla="*/ 1145033 h 2273502"/>
              <a:gd name="connsiteX2" fmla="*/ 1375797 w 2290065"/>
              <a:gd name="connsiteY2" fmla="*/ 2266803 h 2273502"/>
              <a:gd name="connsiteX3" fmla="*/ 1331903 w 2290065"/>
              <a:gd name="connsiteY3" fmla="*/ 2273502 h 2273502"/>
              <a:gd name="connsiteX4" fmla="*/ 958162 w 2290065"/>
              <a:gd name="connsiteY4" fmla="*/ 2273502 h 2273502"/>
              <a:gd name="connsiteX5" fmla="*/ 914268 w 2290065"/>
              <a:gd name="connsiteY5" fmla="*/ 2266803 h 2273502"/>
              <a:gd name="connsiteX6" fmla="*/ 5911 w 2290065"/>
              <a:gd name="connsiteY6" fmla="*/ 1262106 h 2273502"/>
              <a:gd name="connsiteX7" fmla="*/ 0 w 2290065"/>
              <a:gd name="connsiteY7" fmla="*/ 1145053 h 2273502"/>
              <a:gd name="connsiteX8" fmla="*/ 0 w 2290065"/>
              <a:gd name="connsiteY8" fmla="*/ 1145014 h 2273502"/>
              <a:gd name="connsiteX9" fmla="*/ 5911 w 2290065"/>
              <a:gd name="connsiteY9" fmla="*/ 1027960 h 2273502"/>
              <a:gd name="connsiteX10" fmla="*/ 1145032 w 2290065"/>
              <a:gd name="connsiteY10" fmla="*/ 0 h 22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0065" h="2273502">
                <a:moveTo>
                  <a:pt x="1145032" y="0"/>
                </a:moveTo>
                <a:cubicBezTo>
                  <a:pt x="1777417" y="0"/>
                  <a:pt x="2290065" y="512649"/>
                  <a:pt x="2290065" y="1145033"/>
                </a:cubicBezTo>
                <a:cubicBezTo>
                  <a:pt x="2290065" y="1698370"/>
                  <a:pt x="1897569" y="2160033"/>
                  <a:pt x="1375797" y="2266803"/>
                </a:cubicBezTo>
                <a:lnTo>
                  <a:pt x="1331903" y="2273502"/>
                </a:lnTo>
                <a:lnTo>
                  <a:pt x="958162" y="2273502"/>
                </a:lnTo>
                <a:lnTo>
                  <a:pt x="914268" y="2266803"/>
                </a:lnTo>
                <a:cubicBezTo>
                  <a:pt x="429765" y="2167660"/>
                  <a:pt x="56730" y="1762511"/>
                  <a:pt x="5911" y="1262106"/>
                </a:cubicBezTo>
                <a:lnTo>
                  <a:pt x="0" y="1145053"/>
                </a:lnTo>
                <a:lnTo>
                  <a:pt x="0" y="1145014"/>
                </a:lnTo>
                <a:lnTo>
                  <a:pt x="5911" y="1027960"/>
                </a:lnTo>
                <a:cubicBezTo>
                  <a:pt x="64548" y="450571"/>
                  <a:pt x="552172" y="0"/>
                  <a:pt x="1145032"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1" name="Picture Placeholder 30">
            <a:extLst>
              <a:ext uri="{FF2B5EF4-FFF2-40B4-BE49-F238E27FC236}">
                <a16:creationId xmlns:a16="http://schemas.microsoft.com/office/drawing/2014/main" id="{E1E0A794-F1D3-4628-B5B1-9D48AB34C3D4}"/>
              </a:ext>
            </a:extLst>
          </p:cNvPr>
          <p:cNvSpPr>
            <a:spLocks noGrp="1"/>
          </p:cNvSpPr>
          <p:nvPr>
            <p:ph type="pic" sz="quarter" idx="16"/>
          </p:nvPr>
        </p:nvSpPr>
        <p:spPr>
          <a:xfrm>
            <a:off x="5579539" y="4386312"/>
            <a:ext cx="3119293" cy="2462810"/>
          </a:xfrm>
          <a:custGeom>
            <a:avLst/>
            <a:gdLst>
              <a:gd name="connsiteX0" fmla="*/ 1559647 w 3119293"/>
              <a:gd name="connsiteY0" fmla="*/ 0 h 2462810"/>
              <a:gd name="connsiteX1" fmla="*/ 3119293 w 3119293"/>
              <a:gd name="connsiteY1" fmla="*/ 1559647 h 2462810"/>
              <a:gd name="connsiteX2" fmla="*/ 2852930 w 3119293"/>
              <a:gd name="connsiteY2" fmla="*/ 2431660 h 2462810"/>
              <a:gd name="connsiteX3" fmla="*/ 2829636 w 3119293"/>
              <a:gd name="connsiteY3" fmla="*/ 2462810 h 2462810"/>
              <a:gd name="connsiteX4" fmla="*/ 289658 w 3119293"/>
              <a:gd name="connsiteY4" fmla="*/ 2462810 h 2462810"/>
              <a:gd name="connsiteX5" fmla="*/ 266363 w 3119293"/>
              <a:gd name="connsiteY5" fmla="*/ 2431660 h 2462810"/>
              <a:gd name="connsiteX6" fmla="*/ 0 w 3119293"/>
              <a:gd name="connsiteY6" fmla="*/ 1559647 h 2462810"/>
              <a:gd name="connsiteX7" fmla="*/ 1559647 w 3119293"/>
              <a:gd name="connsiteY7" fmla="*/ 0 h 246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293" h="2462810">
                <a:moveTo>
                  <a:pt x="1559647" y="0"/>
                </a:moveTo>
                <a:cubicBezTo>
                  <a:pt x="2421016" y="0"/>
                  <a:pt x="3119293" y="698278"/>
                  <a:pt x="3119293" y="1559647"/>
                </a:cubicBezTo>
                <a:cubicBezTo>
                  <a:pt x="3119293" y="1882660"/>
                  <a:pt x="3021098" y="2182739"/>
                  <a:pt x="2852930" y="2431660"/>
                </a:cubicBezTo>
                <a:lnTo>
                  <a:pt x="2829636" y="2462810"/>
                </a:lnTo>
                <a:lnTo>
                  <a:pt x="289658" y="2462810"/>
                </a:lnTo>
                <a:lnTo>
                  <a:pt x="266363" y="2431660"/>
                </a:lnTo>
                <a:cubicBezTo>
                  <a:pt x="98195" y="2182739"/>
                  <a:pt x="0" y="1882660"/>
                  <a:pt x="0" y="1559647"/>
                </a:cubicBezTo>
                <a:cubicBezTo>
                  <a:pt x="0" y="698278"/>
                  <a:pt x="698278" y="0"/>
                  <a:pt x="1559647"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B8D3F45B-B631-47D3-A33C-71CEC2B3602C}"/>
              </a:ext>
            </a:extLst>
          </p:cNvPr>
          <p:cNvSpPr>
            <a:spLocks noGrp="1"/>
          </p:cNvSpPr>
          <p:nvPr>
            <p:ph type="pic" sz="quarter" idx="17"/>
          </p:nvPr>
        </p:nvSpPr>
        <p:spPr>
          <a:xfrm>
            <a:off x="1092905" y="4018982"/>
            <a:ext cx="3854161" cy="2839018"/>
          </a:xfrm>
          <a:custGeom>
            <a:avLst/>
            <a:gdLst>
              <a:gd name="connsiteX0" fmla="*/ 1927061 w 3854161"/>
              <a:gd name="connsiteY0" fmla="*/ 0 h 2839018"/>
              <a:gd name="connsiteX1" fmla="*/ 1927101 w 3854161"/>
              <a:gd name="connsiteY1" fmla="*/ 0 h 2839018"/>
              <a:gd name="connsiteX2" fmla="*/ 2124114 w 3854161"/>
              <a:gd name="connsiteY2" fmla="*/ 9948 h 2839018"/>
              <a:gd name="connsiteX3" fmla="*/ 3854161 w 3854161"/>
              <a:gd name="connsiteY3" fmla="*/ 1927080 h 2839018"/>
              <a:gd name="connsiteX4" fmla="*/ 3702722 w 3854161"/>
              <a:gd name="connsiteY4" fmla="*/ 2677187 h 2839018"/>
              <a:gd name="connsiteX5" fmla="*/ 3624763 w 3854161"/>
              <a:gd name="connsiteY5" fmla="*/ 2839018 h 2839018"/>
              <a:gd name="connsiteX6" fmla="*/ 229398 w 3854161"/>
              <a:gd name="connsiteY6" fmla="*/ 2839018 h 2839018"/>
              <a:gd name="connsiteX7" fmla="*/ 151440 w 3854161"/>
              <a:gd name="connsiteY7" fmla="*/ 2677187 h 2839018"/>
              <a:gd name="connsiteX8" fmla="*/ 0 w 3854161"/>
              <a:gd name="connsiteY8" fmla="*/ 1927080 h 2839018"/>
              <a:gd name="connsiteX9" fmla="*/ 1730048 w 3854161"/>
              <a:gd name="connsiteY9" fmla="*/ 9948 h 283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54161" h="2839018">
                <a:moveTo>
                  <a:pt x="1927061" y="0"/>
                </a:moveTo>
                <a:lnTo>
                  <a:pt x="1927101" y="0"/>
                </a:lnTo>
                <a:lnTo>
                  <a:pt x="2124114" y="9948"/>
                </a:lnTo>
                <a:cubicBezTo>
                  <a:pt x="3095856" y="108634"/>
                  <a:pt x="3854161" y="929301"/>
                  <a:pt x="3854161" y="1927080"/>
                </a:cubicBezTo>
                <a:cubicBezTo>
                  <a:pt x="3854161" y="2193154"/>
                  <a:pt x="3800237" y="2446634"/>
                  <a:pt x="3702722" y="2677187"/>
                </a:cubicBezTo>
                <a:lnTo>
                  <a:pt x="3624763" y="2839018"/>
                </a:lnTo>
                <a:lnTo>
                  <a:pt x="229398" y="2839018"/>
                </a:lnTo>
                <a:lnTo>
                  <a:pt x="151440" y="2677187"/>
                </a:lnTo>
                <a:cubicBezTo>
                  <a:pt x="53924" y="2446634"/>
                  <a:pt x="0" y="2193154"/>
                  <a:pt x="0" y="1927080"/>
                </a:cubicBezTo>
                <a:cubicBezTo>
                  <a:pt x="0" y="929301"/>
                  <a:pt x="758305" y="108634"/>
                  <a:pt x="1730048" y="9948"/>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5760720" y="585216"/>
            <a:ext cx="5276088" cy="2276856"/>
          </a:xfrm>
        </p:spPr>
        <p:txBody>
          <a:bodyPr anchor="b"/>
          <a:lstStyle>
            <a:lvl1pPr algn="r">
              <a:defRPr sz="4800" b="1" cap="all" spc="400" baseline="0">
                <a:solidFill>
                  <a:schemeClr val="bg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a:lstStyle>
            <a:lvl1pPr>
              <a:defRPr>
                <a:solidFill>
                  <a:schemeClr val="bg1"/>
                </a:solidFill>
              </a:defRPr>
            </a:lvl1pPr>
          </a:lstStyle>
          <a:p>
            <a:r>
              <a:rPr lang="en-US" dirty="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sp>
        <p:nvSpPr>
          <p:cNvPr id="8" name="Graphic 32">
            <a:extLst>
              <a:ext uri="{FF2B5EF4-FFF2-40B4-BE49-F238E27FC236}">
                <a16:creationId xmlns:a16="http://schemas.microsoft.com/office/drawing/2014/main" id="{846CD0EA-B0AA-4845-81A5-4ADD7C58B12F}"/>
              </a:ext>
            </a:extLst>
          </p:cNvPr>
          <p:cNvSpPr/>
          <p:nvPr userDrawn="1"/>
        </p:nvSpPr>
        <p:spPr>
          <a:xfrm>
            <a:off x="1472366" y="185953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0" name="Graphic 33">
            <a:extLst>
              <a:ext uri="{FF2B5EF4-FFF2-40B4-BE49-F238E27FC236}">
                <a16:creationId xmlns:a16="http://schemas.microsoft.com/office/drawing/2014/main" id="{0E97A0CB-7CB1-47F0-BD48-EEECBAC39CD2}"/>
              </a:ext>
            </a:extLst>
          </p:cNvPr>
          <p:cNvSpPr/>
          <p:nvPr userDrawn="1"/>
        </p:nvSpPr>
        <p:spPr>
          <a:xfrm>
            <a:off x="2014523" y="3146867"/>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12" name="Graphic 31">
            <a:extLst>
              <a:ext uri="{FF2B5EF4-FFF2-40B4-BE49-F238E27FC236}">
                <a16:creationId xmlns:a16="http://schemas.microsoft.com/office/drawing/2014/main" id="{477816C9-06CB-4BC5-B26B-6A2877BD941A}"/>
              </a:ext>
            </a:extLst>
          </p:cNvPr>
          <p:cNvSpPr/>
          <p:nvPr userDrawn="1"/>
        </p:nvSpPr>
        <p:spPr>
          <a:xfrm>
            <a:off x="5404920" y="450829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760720" y="3127248"/>
            <a:ext cx="5276088" cy="1124712"/>
          </a:xfrm>
        </p:spPr>
        <p:txBody>
          <a:bodyPr/>
          <a:lstStyle>
            <a:lvl1pPr marL="0" indent="0" algn="r">
              <a:buNone/>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1045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867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805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77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D8DA9DAA-006C-4F4B-980E-E3DF019B24E2}" type="slidenum">
              <a:rPr lang="en-US" smtClean="0"/>
              <a:t>‹#›</a:t>
            </a:fld>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717" r:id="rId3"/>
    <p:sldLayoutId id="2147483710" r:id="rId4"/>
    <p:sldLayoutId id="2147483709" r:id="rId5"/>
    <p:sldLayoutId id="2147483698" r:id="rId6"/>
    <p:sldLayoutId id="2147483713" r:id="rId7"/>
    <p:sldLayoutId id="2147483712" r:id="rId8"/>
    <p:sldLayoutId id="2147483700" r:id="rId9"/>
    <p:sldLayoutId id="2147483701" r:id="rId10"/>
    <p:sldLayoutId id="2147483716" r:id="rId11"/>
    <p:sldLayoutId id="2147483714" r:id="rId12"/>
    <p:sldLayoutId id="2147483715" r:id="rId13"/>
    <p:sldLayoutId id="2147483702" r:id="rId14"/>
    <p:sldLayoutId id="2147483703" r:id="rId15"/>
    <p:sldLayoutId id="2147483704" r:id="rId16"/>
    <p:sldLayoutId id="2147483705"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p:txBody>
          <a:bodyPr/>
          <a:lstStyle/>
          <a:p>
            <a:r>
              <a:rPr lang="en-US" sz="5400" spc="400" dirty="0">
                <a:solidFill>
                  <a:schemeClr val="bg1"/>
                </a:solidFill>
              </a:rPr>
              <a:t>COS 701 – H001</a:t>
            </a:r>
            <a:br>
              <a:rPr lang="en-US" sz="5400" spc="400" dirty="0">
                <a:solidFill>
                  <a:schemeClr val="bg1"/>
                </a:solidFill>
              </a:rPr>
            </a:br>
            <a:r>
              <a:rPr lang="en-US" sz="5400" spc="400" dirty="0">
                <a:solidFill>
                  <a:schemeClr val="bg1"/>
                </a:solidFill>
              </a:rPr>
              <a:t>FALL 2022</a:t>
            </a:r>
            <a:br>
              <a:rPr lang="en-US" sz="5400" spc="400" dirty="0">
                <a:solidFill>
                  <a:schemeClr val="bg1"/>
                </a:solidFill>
              </a:rPr>
            </a:br>
            <a:r>
              <a:rPr lang="en-US" sz="5400" spc="400" dirty="0">
                <a:solidFill>
                  <a:schemeClr val="bg1"/>
                </a:solidFill>
              </a:rPr>
              <a:t>Final Project</a:t>
            </a:r>
            <a:endParaRPr lang="en-US" dirty="0"/>
          </a:p>
        </p:txBody>
      </p:sp>
      <p:sp>
        <p:nvSpPr>
          <p:cNvPr id="3" name="Subtitle 2">
            <a:extLst>
              <a:ext uri="{FF2B5EF4-FFF2-40B4-BE49-F238E27FC236}">
                <a16:creationId xmlns:a16="http://schemas.microsoft.com/office/drawing/2014/main" id="{A5F14073-9F68-4B7E-A576-26899D58C7A9}"/>
              </a:ext>
            </a:extLst>
          </p:cNvPr>
          <p:cNvSpPr>
            <a:spLocks noGrp="1"/>
          </p:cNvSpPr>
          <p:nvPr>
            <p:ph type="subTitle" idx="1"/>
          </p:nvPr>
        </p:nvSpPr>
        <p:spPr/>
        <p:txBody>
          <a:bodyPr/>
          <a:lstStyle/>
          <a:p>
            <a:r>
              <a:rPr lang="en-US" sz="2000" dirty="0">
                <a:solidFill>
                  <a:schemeClr val="bg1"/>
                </a:solidFill>
              </a:rPr>
              <a:t>Rachel Prather</a:t>
            </a:r>
          </a:p>
          <a:p>
            <a:endParaRPr lang="en-US" dirty="0"/>
          </a:p>
        </p:txBody>
      </p:sp>
    </p:spTree>
    <p:extLst>
      <p:ext uri="{BB962C8B-B14F-4D97-AF65-F5344CB8AC3E}">
        <p14:creationId xmlns:p14="http://schemas.microsoft.com/office/powerpoint/2010/main" val="11476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DBBC93-70DF-4E4E-98E3-08124185AB18}"/>
              </a:ext>
            </a:extLst>
          </p:cNvPr>
          <p:cNvSpPr>
            <a:spLocks noGrp="1"/>
          </p:cNvSpPr>
          <p:nvPr>
            <p:ph type="title"/>
          </p:nvPr>
        </p:nvSpPr>
        <p:spPr/>
        <p:txBody>
          <a:bodyPr/>
          <a:lstStyle/>
          <a:p>
            <a:r>
              <a:rPr lang="en-US" b="1" cap="all" spc="400" dirty="0">
                <a:solidFill>
                  <a:schemeClr val="bg1"/>
                </a:solidFill>
                <a:latin typeface="+mn-lt"/>
              </a:rPr>
              <a:t>Outline</a:t>
            </a:r>
            <a:endParaRPr lang="en-US" dirty="0"/>
          </a:p>
        </p:txBody>
      </p:sp>
      <p:sp>
        <p:nvSpPr>
          <p:cNvPr id="4" name="Text Placeholder 3">
            <a:extLst>
              <a:ext uri="{FF2B5EF4-FFF2-40B4-BE49-F238E27FC236}">
                <a16:creationId xmlns:a16="http://schemas.microsoft.com/office/drawing/2014/main" id="{65DE74E9-AA78-46C1-845A-0B72FA8AF35E}"/>
              </a:ext>
            </a:extLst>
          </p:cNvPr>
          <p:cNvSpPr>
            <a:spLocks noGrp="1"/>
          </p:cNvSpPr>
          <p:nvPr>
            <p:ph type="body" sz="quarter" idx="13"/>
          </p:nvPr>
        </p:nvSpPr>
        <p:spPr/>
        <p:txBody>
          <a:bodyPr/>
          <a:lstStyle/>
          <a:p>
            <a:pPr algn="r"/>
            <a:r>
              <a:rPr lang="en-US" sz="1800" dirty="0">
                <a:solidFill>
                  <a:schemeClr val="bg1"/>
                </a:solidFill>
              </a:rPr>
              <a:t>Overview of Problem</a:t>
            </a:r>
          </a:p>
          <a:p>
            <a:pPr algn="r"/>
            <a:r>
              <a:rPr lang="en-US" sz="1800" dirty="0">
                <a:solidFill>
                  <a:schemeClr val="bg1"/>
                </a:solidFill>
              </a:rPr>
              <a:t>Methodology</a:t>
            </a:r>
          </a:p>
          <a:p>
            <a:pPr algn="r"/>
            <a:r>
              <a:rPr lang="en-US" dirty="0"/>
              <a:t>Discoveries</a:t>
            </a:r>
            <a:endParaRPr lang="en-US" sz="1800" dirty="0">
              <a:solidFill>
                <a:schemeClr val="bg1"/>
              </a:solidFill>
            </a:endParaRPr>
          </a:p>
          <a:p>
            <a:pPr algn="r"/>
            <a:r>
              <a:rPr lang="en-US" sz="1800" dirty="0">
                <a:solidFill>
                  <a:schemeClr val="bg1"/>
                </a:solidFill>
              </a:rPr>
              <a:t>Results and Questions</a:t>
            </a:r>
          </a:p>
        </p:txBody>
      </p:sp>
      <p:pic>
        <p:nvPicPr>
          <p:cNvPr id="6" name="Picture Placeholder 5" descr="mountains at sunset">
            <a:extLst>
              <a:ext uri="{FF2B5EF4-FFF2-40B4-BE49-F238E27FC236}">
                <a16:creationId xmlns:a16="http://schemas.microsoft.com/office/drawing/2014/main" id="{4642631A-6ABE-41EA-A308-9CF1230F1421}"/>
              </a:ext>
            </a:extLst>
          </p:cNvPr>
          <p:cNvPicPr>
            <a:picLocks noGrp="1" noChangeAspect="1"/>
          </p:cNvPicPr>
          <p:nvPr>
            <p:ph type="pic" sz="quarter" idx="14"/>
          </p:nvPr>
        </p:nvPicPr>
        <p:blipFill rotWithShape="1">
          <a:blip r:embed="rId2"/>
          <a:srcRect/>
          <a:stretch/>
        </p:blipFill>
        <p:spPr/>
      </p:pic>
      <p:sp>
        <p:nvSpPr>
          <p:cNvPr id="7" name="Date Placeholder 6">
            <a:extLst>
              <a:ext uri="{FF2B5EF4-FFF2-40B4-BE49-F238E27FC236}">
                <a16:creationId xmlns:a16="http://schemas.microsoft.com/office/drawing/2014/main" id="{05C25F72-F9A7-42F9-9720-0801ED77D4D1}"/>
              </a:ext>
            </a:extLst>
          </p:cNvPr>
          <p:cNvSpPr>
            <a:spLocks noGrp="1"/>
          </p:cNvSpPr>
          <p:nvPr>
            <p:ph type="dt" sz="half" idx="10"/>
          </p:nvPr>
        </p:nvSpPr>
        <p:spPr/>
        <p:txBody>
          <a:bodyPr/>
          <a:lstStyle/>
          <a:p>
            <a:r>
              <a:rPr lang="en-US" dirty="0"/>
              <a:t>12/05/2022</a:t>
            </a:r>
          </a:p>
        </p:txBody>
      </p:sp>
      <p:sp>
        <p:nvSpPr>
          <p:cNvPr id="8" name="Footer Placeholder 7">
            <a:extLst>
              <a:ext uri="{FF2B5EF4-FFF2-40B4-BE49-F238E27FC236}">
                <a16:creationId xmlns:a16="http://schemas.microsoft.com/office/drawing/2014/main" id="{AEEDFC2F-FF0A-4EC9-A0BB-0AA2B1E6BA4A}"/>
              </a:ext>
            </a:extLst>
          </p:cNvPr>
          <p:cNvSpPr>
            <a:spLocks noGrp="1"/>
          </p:cNvSpPr>
          <p:nvPr>
            <p:ph type="ftr" sz="quarter" idx="11"/>
          </p:nvPr>
        </p:nvSpPr>
        <p:spPr/>
        <p:txBody>
          <a:bodyPr/>
          <a:lstStyle/>
          <a:p>
            <a:r>
              <a:rPr lang="en-US" dirty="0"/>
              <a:t>Cos 701 Final Project</a:t>
            </a:r>
          </a:p>
        </p:txBody>
      </p:sp>
      <p:sp>
        <p:nvSpPr>
          <p:cNvPr id="9" name="Slide Number Placeholder 8">
            <a:extLst>
              <a:ext uri="{FF2B5EF4-FFF2-40B4-BE49-F238E27FC236}">
                <a16:creationId xmlns:a16="http://schemas.microsoft.com/office/drawing/2014/main" id="{6DCF8D89-56D9-4E2B-9838-07DFB6E9D2BB}"/>
              </a:ext>
            </a:extLst>
          </p:cNvPr>
          <p:cNvSpPr>
            <a:spLocks noGrp="1"/>
          </p:cNvSpPr>
          <p:nvPr>
            <p:ph type="sldNum" sz="quarter" idx="12"/>
          </p:nvPr>
        </p:nvSpPr>
        <p:spPr/>
        <p:txBody>
          <a:bodyPr/>
          <a:lstStyle/>
          <a:p>
            <a:fld id="{D8DA9DAA-006C-4F4B-980E-E3DF019B24E2}" type="slidenum">
              <a:rPr lang="en-US" smtClean="0"/>
              <a:pPr/>
              <a:t>2</a:t>
            </a:fld>
            <a:endParaRPr lang="en-US" dirty="0"/>
          </a:p>
        </p:txBody>
      </p:sp>
    </p:spTree>
    <p:extLst>
      <p:ext uri="{BB962C8B-B14F-4D97-AF65-F5344CB8AC3E}">
        <p14:creationId xmlns:p14="http://schemas.microsoft.com/office/powerpoint/2010/main" val="1613598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15FF41-AFA4-4D25-AB42-AB034F4B4FEC}"/>
              </a:ext>
            </a:extLst>
          </p:cNvPr>
          <p:cNvSpPr>
            <a:spLocks noGrp="1"/>
          </p:cNvSpPr>
          <p:nvPr>
            <p:ph type="title"/>
          </p:nvPr>
        </p:nvSpPr>
        <p:spPr/>
        <p:txBody>
          <a:bodyPr>
            <a:normAutofit fontScale="90000"/>
          </a:bodyPr>
          <a:lstStyle/>
          <a:p>
            <a:r>
              <a:rPr lang="en-US" sz="5400" dirty="0"/>
              <a:t>The Traveling Salesman Problem</a:t>
            </a:r>
            <a:endParaRPr lang="en-US" dirty="0"/>
          </a:p>
        </p:txBody>
      </p:sp>
      <p:sp>
        <p:nvSpPr>
          <p:cNvPr id="4" name="Content Placeholder 3">
            <a:extLst>
              <a:ext uri="{FF2B5EF4-FFF2-40B4-BE49-F238E27FC236}">
                <a16:creationId xmlns:a16="http://schemas.microsoft.com/office/drawing/2014/main" id="{B0881FA9-F3B0-4912-B0E1-352094195C30}"/>
              </a:ext>
            </a:extLst>
          </p:cNvPr>
          <p:cNvSpPr>
            <a:spLocks noGrp="1"/>
          </p:cNvSpPr>
          <p:nvPr>
            <p:ph idx="1"/>
          </p:nvPr>
        </p:nvSpPr>
        <p:spPr/>
        <p:txBody>
          <a:bodyPr>
            <a:normAutofit fontScale="92500" lnSpcReduction="10000"/>
          </a:bodyPr>
          <a:lstStyle/>
          <a:p>
            <a:r>
              <a:rPr lang="en-US" sz="2000" dirty="0"/>
              <a:t>In this problem, we are a salesman who must visit several European cities. However, the budget is limited. Thus, the trip needs to be completed so that the total distance traveled is minimal to reduce the overall cost. We need to visit the cities of London, Amsterdam, Paris, Rome, Prague, Zurich, Berlin, Vienna, Copenhagen, Brussels, and Lisbon.</a:t>
            </a:r>
          </a:p>
          <a:p>
            <a:r>
              <a:rPr lang="en-US" sz="2000" dirty="0"/>
              <a:t>We will also examine the cases in which Madrid is added to this list and what happens if we fix our starting location to London.</a:t>
            </a:r>
          </a:p>
          <a:p>
            <a:endParaRPr lang="en-US" dirty="0"/>
          </a:p>
        </p:txBody>
      </p:sp>
      <p:pic>
        <p:nvPicPr>
          <p:cNvPr id="8" name="Picture Placeholder 7" descr="mountains under the night sky just before dawn">
            <a:extLst>
              <a:ext uri="{FF2B5EF4-FFF2-40B4-BE49-F238E27FC236}">
                <a16:creationId xmlns:a16="http://schemas.microsoft.com/office/drawing/2014/main" id="{B53D1AAB-32B2-4F04-828F-AB1C758AF004}"/>
              </a:ext>
            </a:extLst>
          </p:cNvPr>
          <p:cNvPicPr>
            <a:picLocks noGrp="1" noChangeAspect="1"/>
          </p:cNvPicPr>
          <p:nvPr>
            <p:ph type="pic" sz="quarter" idx="13"/>
          </p:nvPr>
        </p:nvPicPr>
        <p:blipFill rotWithShape="1">
          <a:blip r:embed="rId2"/>
          <a:srcRect l="71" r="71"/>
          <a:stretch/>
        </p:blipFill>
        <p:spPr/>
      </p:pic>
      <p:sp>
        <p:nvSpPr>
          <p:cNvPr id="9" name="Date Placeholder 8">
            <a:extLst>
              <a:ext uri="{FF2B5EF4-FFF2-40B4-BE49-F238E27FC236}">
                <a16:creationId xmlns:a16="http://schemas.microsoft.com/office/drawing/2014/main" id="{D45C472E-4078-40A0-83A2-652E8356EDCB}"/>
              </a:ext>
            </a:extLst>
          </p:cNvPr>
          <p:cNvSpPr>
            <a:spLocks noGrp="1"/>
          </p:cNvSpPr>
          <p:nvPr>
            <p:ph type="dt" sz="half" idx="10"/>
          </p:nvPr>
        </p:nvSpPr>
        <p:spPr/>
        <p:txBody>
          <a:bodyPr/>
          <a:lstStyle/>
          <a:p>
            <a:r>
              <a:rPr lang="en-US" dirty="0"/>
              <a:t>12/5/2022</a:t>
            </a:r>
          </a:p>
        </p:txBody>
      </p:sp>
      <p:sp>
        <p:nvSpPr>
          <p:cNvPr id="10" name="Footer Placeholder 9">
            <a:extLst>
              <a:ext uri="{FF2B5EF4-FFF2-40B4-BE49-F238E27FC236}">
                <a16:creationId xmlns:a16="http://schemas.microsoft.com/office/drawing/2014/main" id="{A8C7C3A0-5E78-49C8-B8D4-F3DF62B2BC93}"/>
              </a:ext>
            </a:extLst>
          </p:cNvPr>
          <p:cNvSpPr>
            <a:spLocks noGrp="1"/>
          </p:cNvSpPr>
          <p:nvPr>
            <p:ph type="ftr" sz="quarter" idx="11"/>
          </p:nvPr>
        </p:nvSpPr>
        <p:spPr/>
        <p:txBody>
          <a:bodyPr/>
          <a:lstStyle/>
          <a:p>
            <a:r>
              <a:rPr lang="en-US" dirty="0"/>
              <a:t>Problem Overview</a:t>
            </a:r>
          </a:p>
        </p:txBody>
      </p:sp>
      <p:sp>
        <p:nvSpPr>
          <p:cNvPr id="11" name="Slide Number Placeholder 10">
            <a:extLst>
              <a:ext uri="{FF2B5EF4-FFF2-40B4-BE49-F238E27FC236}">
                <a16:creationId xmlns:a16="http://schemas.microsoft.com/office/drawing/2014/main" id="{56AE2454-CE9A-4A6B-AB5A-349E0D967654}"/>
              </a:ext>
            </a:extLst>
          </p:cNvPr>
          <p:cNvSpPr>
            <a:spLocks noGrp="1"/>
          </p:cNvSpPr>
          <p:nvPr>
            <p:ph type="sldNum" sz="quarter" idx="12"/>
          </p:nvPr>
        </p:nvSpPr>
        <p:spPr/>
        <p:txBody>
          <a:bodyPr/>
          <a:lstStyle/>
          <a:p>
            <a:fld id="{D8DA9DAA-006C-4F4B-980E-E3DF019B24E2}" type="slidenum">
              <a:rPr lang="en-US" smtClean="0"/>
              <a:pPr/>
              <a:t>3</a:t>
            </a:fld>
            <a:endParaRPr lang="en-US" dirty="0"/>
          </a:p>
        </p:txBody>
      </p:sp>
    </p:spTree>
    <p:extLst>
      <p:ext uri="{BB962C8B-B14F-4D97-AF65-F5344CB8AC3E}">
        <p14:creationId xmlns:p14="http://schemas.microsoft.com/office/powerpoint/2010/main" val="365334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FB95-2803-4882-8DE6-333A75D37240}"/>
              </a:ext>
            </a:extLst>
          </p:cNvPr>
          <p:cNvSpPr>
            <a:spLocks noGrp="1"/>
          </p:cNvSpPr>
          <p:nvPr>
            <p:ph type="ctrTitle"/>
          </p:nvPr>
        </p:nvSpPr>
        <p:spPr>
          <a:xfrm>
            <a:off x="6391656" y="841248"/>
            <a:ext cx="4434840" cy="3730752"/>
          </a:xfrm>
        </p:spPr>
        <p:txBody>
          <a:bodyPr>
            <a:noAutofit/>
          </a:bodyPr>
          <a:lstStyle/>
          <a:p>
            <a:r>
              <a:rPr lang="en-US" sz="2800" dirty="0"/>
              <a:t>One thing to notice in this situation is that we are starting with 11 cities. Thus, the total number of possible routes is 11! Then, when adding in Madrid, this number climbs to 12!</a:t>
            </a:r>
          </a:p>
        </p:txBody>
      </p:sp>
      <p:sp>
        <p:nvSpPr>
          <p:cNvPr id="3" name="Subtitle 2">
            <a:extLst>
              <a:ext uri="{FF2B5EF4-FFF2-40B4-BE49-F238E27FC236}">
                <a16:creationId xmlns:a16="http://schemas.microsoft.com/office/drawing/2014/main" id="{8AFC25C2-2815-4A92-A043-0CEC83591A94}"/>
              </a:ext>
            </a:extLst>
          </p:cNvPr>
          <p:cNvSpPr>
            <a:spLocks noGrp="1"/>
          </p:cNvSpPr>
          <p:nvPr>
            <p:ph type="subTitle" idx="1"/>
          </p:nvPr>
        </p:nvSpPr>
        <p:spPr>
          <a:xfrm>
            <a:off x="6391657" y="5425148"/>
            <a:ext cx="4434840" cy="846841"/>
          </a:xfrm>
        </p:spPr>
        <p:txBody>
          <a:bodyPr/>
          <a:lstStyle/>
          <a:p>
            <a:r>
              <a:rPr lang="en-US" sz="1800" dirty="0"/>
              <a:t>However, before starting, the distance matrices are required.</a:t>
            </a:r>
          </a:p>
        </p:txBody>
      </p:sp>
      <p:pic>
        <p:nvPicPr>
          <p:cNvPr id="8" name="Picture Placeholder 7" descr="mountains at sunset">
            <a:extLst>
              <a:ext uri="{FF2B5EF4-FFF2-40B4-BE49-F238E27FC236}">
                <a16:creationId xmlns:a16="http://schemas.microsoft.com/office/drawing/2014/main" id="{8DD372BB-220C-48D2-B19A-562BE88C2109}"/>
              </a:ext>
            </a:extLst>
          </p:cNvPr>
          <p:cNvPicPr>
            <a:picLocks noGrp="1" noChangeAspect="1"/>
          </p:cNvPicPr>
          <p:nvPr>
            <p:ph type="pic" sz="quarter" idx="13"/>
          </p:nvPr>
        </p:nvPicPr>
        <p:blipFill rotWithShape="1">
          <a:blip r:embed="rId2"/>
          <a:srcRect/>
          <a:stretch/>
        </p:blipFill>
        <p:spPr/>
      </p:pic>
      <p:sp>
        <p:nvSpPr>
          <p:cNvPr id="9" name="Footer Placeholder 8">
            <a:extLst>
              <a:ext uri="{FF2B5EF4-FFF2-40B4-BE49-F238E27FC236}">
                <a16:creationId xmlns:a16="http://schemas.microsoft.com/office/drawing/2014/main" id="{A2055D38-CE59-4FC4-85CE-CF9DA81D858C}"/>
              </a:ext>
            </a:extLst>
          </p:cNvPr>
          <p:cNvSpPr>
            <a:spLocks noGrp="1"/>
          </p:cNvSpPr>
          <p:nvPr>
            <p:ph type="ftr" sz="quarter" idx="11"/>
          </p:nvPr>
        </p:nvSpPr>
        <p:spPr/>
        <p:txBody>
          <a:bodyPr/>
          <a:lstStyle/>
          <a:p>
            <a:r>
              <a:rPr lang="en-US" dirty="0"/>
              <a:t>Methodology</a:t>
            </a:r>
          </a:p>
        </p:txBody>
      </p:sp>
      <p:sp>
        <p:nvSpPr>
          <p:cNvPr id="10" name="Slide Number Placeholder 9">
            <a:extLst>
              <a:ext uri="{FF2B5EF4-FFF2-40B4-BE49-F238E27FC236}">
                <a16:creationId xmlns:a16="http://schemas.microsoft.com/office/drawing/2014/main" id="{FE0D311A-C366-4A86-9404-C0F5CBF9C811}"/>
              </a:ext>
            </a:extLst>
          </p:cNvPr>
          <p:cNvSpPr>
            <a:spLocks noGrp="1"/>
          </p:cNvSpPr>
          <p:nvPr>
            <p:ph type="sldNum" sz="quarter" idx="12"/>
          </p:nvPr>
        </p:nvSpPr>
        <p:spPr/>
        <p:txBody>
          <a:bodyPr/>
          <a:lstStyle/>
          <a:p>
            <a:fld id="{D8DA9DAA-006C-4F4B-980E-E3DF019B24E2}" type="slidenum">
              <a:rPr lang="en-US" smtClean="0"/>
              <a:pPr/>
              <a:t>4</a:t>
            </a:fld>
            <a:endParaRPr lang="en-US" dirty="0"/>
          </a:p>
        </p:txBody>
      </p:sp>
    </p:spTree>
    <p:extLst>
      <p:ext uri="{BB962C8B-B14F-4D97-AF65-F5344CB8AC3E}">
        <p14:creationId xmlns:p14="http://schemas.microsoft.com/office/powerpoint/2010/main" val="3561473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E27C7C-4B68-4BBC-BF36-8959D8493E4A}"/>
              </a:ext>
            </a:extLst>
          </p:cNvPr>
          <p:cNvSpPr>
            <a:spLocks noGrp="1"/>
          </p:cNvSpPr>
          <p:nvPr>
            <p:ph type="title"/>
          </p:nvPr>
        </p:nvSpPr>
        <p:spPr/>
        <p:txBody>
          <a:bodyPr>
            <a:normAutofit/>
          </a:bodyPr>
          <a:lstStyle/>
          <a:p>
            <a:r>
              <a:rPr lang="en-US" sz="5400" dirty="0"/>
              <a:t>Distance Matrix without </a:t>
            </a:r>
            <a:r>
              <a:rPr lang="en-US" sz="5400" dirty="0" err="1"/>
              <a:t>Madird</a:t>
            </a:r>
            <a:endParaRPr lang="en-US" sz="5400" dirty="0"/>
          </a:p>
        </p:txBody>
      </p:sp>
      <p:sp>
        <p:nvSpPr>
          <p:cNvPr id="9" name="Slide Number Placeholder 5">
            <a:extLst>
              <a:ext uri="{FF2B5EF4-FFF2-40B4-BE49-F238E27FC236}">
                <a16:creationId xmlns:a16="http://schemas.microsoft.com/office/drawing/2014/main" id="{4FC290B8-BF94-4636-BFAB-9FD67F4AAC6D}"/>
              </a:ext>
            </a:extLst>
          </p:cNvPr>
          <p:cNvSpPr>
            <a:spLocks noGrp="1"/>
          </p:cNvSpPr>
          <p:nvPr>
            <p:ph type="sldNum" sz="quarter" idx="12"/>
          </p:nvPr>
        </p:nvSpPr>
        <p:spPr>
          <a:xfrm>
            <a:off x="8610600" y="6356350"/>
            <a:ext cx="2743200" cy="365125"/>
          </a:xfrm>
        </p:spPr>
        <p:txBody>
          <a:bodyPr/>
          <a:lstStyle/>
          <a:p>
            <a:fld id="{D8DA9DAA-006C-4F4B-980E-E3DF019B24E2}" type="slidenum">
              <a:rPr lang="en-US" b="1" cap="all" spc="100" smtClean="0">
                <a:solidFill>
                  <a:schemeClr val="accent2"/>
                </a:solidFill>
              </a:rPr>
              <a:t>5</a:t>
            </a:fld>
            <a:endParaRPr lang="en-US" b="1" cap="all" spc="100" dirty="0">
              <a:solidFill>
                <a:schemeClr val="accent2"/>
              </a:solidFill>
            </a:endParaRPr>
          </a:p>
        </p:txBody>
      </p:sp>
      <p:pic>
        <p:nvPicPr>
          <p:cNvPr id="6" name="Content Placeholder 5">
            <a:extLst>
              <a:ext uri="{FF2B5EF4-FFF2-40B4-BE49-F238E27FC236}">
                <a16:creationId xmlns:a16="http://schemas.microsoft.com/office/drawing/2014/main" id="{5754B600-7CED-94FA-B63D-9A96080D1E9C}"/>
              </a:ext>
            </a:extLst>
          </p:cNvPr>
          <p:cNvPicPr>
            <a:picLocks noGrp="1" noChangeAspect="1"/>
          </p:cNvPicPr>
          <p:nvPr>
            <p:ph idx="1"/>
          </p:nvPr>
        </p:nvPicPr>
        <p:blipFill>
          <a:blip r:embed="rId2"/>
          <a:stretch>
            <a:fillRect/>
          </a:stretch>
        </p:blipFill>
        <p:spPr>
          <a:xfrm>
            <a:off x="783712" y="1690688"/>
            <a:ext cx="11198833" cy="3001033"/>
          </a:xfrm>
          <a:prstGeom prst="rect">
            <a:avLst/>
          </a:prstGeom>
        </p:spPr>
      </p:pic>
      <p:sp>
        <p:nvSpPr>
          <p:cNvPr id="7" name="TextBox 6">
            <a:extLst>
              <a:ext uri="{FF2B5EF4-FFF2-40B4-BE49-F238E27FC236}">
                <a16:creationId xmlns:a16="http://schemas.microsoft.com/office/drawing/2014/main" id="{AF7DA9D6-8EAC-EAB5-9620-0A0745A0390B}"/>
              </a:ext>
            </a:extLst>
          </p:cNvPr>
          <p:cNvSpPr txBox="1"/>
          <p:nvPr/>
        </p:nvSpPr>
        <p:spPr>
          <a:xfrm>
            <a:off x="1187777" y="5269584"/>
            <a:ext cx="7970363" cy="923330"/>
          </a:xfrm>
          <a:prstGeom prst="rect">
            <a:avLst/>
          </a:prstGeom>
          <a:noFill/>
        </p:spPr>
        <p:txBody>
          <a:bodyPr wrap="square" rtlCol="0">
            <a:spAutoFit/>
          </a:bodyPr>
          <a:lstStyle/>
          <a:p>
            <a:r>
              <a:rPr lang="en-US" dirty="0"/>
              <a:t>Distance matrix created using data from Google Maps. During the distance calculations, I avoided tolls but still included ferries in the driving directions.</a:t>
            </a:r>
          </a:p>
        </p:txBody>
      </p:sp>
    </p:spTree>
    <p:extLst>
      <p:ext uri="{BB962C8B-B14F-4D97-AF65-F5344CB8AC3E}">
        <p14:creationId xmlns:p14="http://schemas.microsoft.com/office/powerpoint/2010/main" val="78391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E27C7C-4B68-4BBC-BF36-8959D8493E4A}"/>
              </a:ext>
            </a:extLst>
          </p:cNvPr>
          <p:cNvSpPr>
            <a:spLocks noGrp="1"/>
          </p:cNvSpPr>
          <p:nvPr>
            <p:ph type="title"/>
          </p:nvPr>
        </p:nvSpPr>
        <p:spPr/>
        <p:txBody>
          <a:bodyPr>
            <a:normAutofit/>
          </a:bodyPr>
          <a:lstStyle/>
          <a:p>
            <a:r>
              <a:rPr lang="en-US" sz="5400" dirty="0"/>
              <a:t>Distance Matrix with Madrid</a:t>
            </a:r>
          </a:p>
        </p:txBody>
      </p:sp>
      <p:sp>
        <p:nvSpPr>
          <p:cNvPr id="7" name="Slide Number Placeholder 5">
            <a:extLst>
              <a:ext uri="{FF2B5EF4-FFF2-40B4-BE49-F238E27FC236}">
                <a16:creationId xmlns:a16="http://schemas.microsoft.com/office/drawing/2014/main" id="{4ECDE54D-4BD2-4764-A36A-8487DB61E7A6}"/>
              </a:ext>
            </a:extLst>
          </p:cNvPr>
          <p:cNvSpPr>
            <a:spLocks noGrp="1"/>
          </p:cNvSpPr>
          <p:nvPr>
            <p:ph type="sldNum" sz="quarter" idx="12"/>
          </p:nvPr>
        </p:nvSpPr>
        <p:spPr>
          <a:xfrm>
            <a:off x="8610600" y="6356350"/>
            <a:ext cx="2743200" cy="365125"/>
          </a:xfrm>
        </p:spPr>
        <p:txBody>
          <a:bodyPr/>
          <a:lstStyle/>
          <a:p>
            <a:fld id="{D8DA9DAA-006C-4F4B-980E-E3DF019B24E2}" type="slidenum">
              <a:rPr lang="en-US" b="1" cap="all" spc="100" smtClean="0">
                <a:solidFill>
                  <a:schemeClr val="accent2"/>
                </a:solidFill>
              </a:rPr>
              <a:t>6</a:t>
            </a:fld>
            <a:endParaRPr lang="en-US" b="1" cap="all" spc="100" dirty="0">
              <a:solidFill>
                <a:schemeClr val="accent2"/>
              </a:solidFill>
            </a:endParaRPr>
          </a:p>
        </p:txBody>
      </p:sp>
      <p:pic>
        <p:nvPicPr>
          <p:cNvPr id="10" name="Content Placeholder 9">
            <a:extLst>
              <a:ext uri="{FF2B5EF4-FFF2-40B4-BE49-F238E27FC236}">
                <a16:creationId xmlns:a16="http://schemas.microsoft.com/office/drawing/2014/main" id="{9A5C6323-1436-9188-D89C-352410BC9CBA}"/>
              </a:ext>
            </a:extLst>
          </p:cNvPr>
          <p:cNvPicPr>
            <a:picLocks noGrp="1" noChangeAspect="1"/>
          </p:cNvPicPr>
          <p:nvPr>
            <p:ph idx="1"/>
          </p:nvPr>
        </p:nvPicPr>
        <p:blipFill>
          <a:blip r:embed="rId2"/>
          <a:stretch>
            <a:fillRect/>
          </a:stretch>
        </p:blipFill>
        <p:spPr>
          <a:xfrm>
            <a:off x="838199" y="1560078"/>
            <a:ext cx="11088932" cy="3011922"/>
          </a:xfrm>
          <a:prstGeom prst="rect">
            <a:avLst/>
          </a:prstGeom>
        </p:spPr>
      </p:pic>
      <p:sp>
        <p:nvSpPr>
          <p:cNvPr id="11" name="TextBox 10">
            <a:extLst>
              <a:ext uri="{FF2B5EF4-FFF2-40B4-BE49-F238E27FC236}">
                <a16:creationId xmlns:a16="http://schemas.microsoft.com/office/drawing/2014/main" id="{72A5C4A8-4A77-25F6-E834-3C7DD3FB2DCC}"/>
              </a:ext>
            </a:extLst>
          </p:cNvPr>
          <p:cNvSpPr txBox="1"/>
          <p:nvPr/>
        </p:nvSpPr>
        <p:spPr>
          <a:xfrm>
            <a:off x="1076280" y="5507682"/>
            <a:ext cx="9012746" cy="646331"/>
          </a:xfrm>
          <a:prstGeom prst="rect">
            <a:avLst/>
          </a:prstGeom>
          <a:noFill/>
        </p:spPr>
        <p:txBody>
          <a:bodyPr wrap="square" rtlCol="0">
            <a:spAutoFit/>
          </a:bodyPr>
          <a:lstStyle/>
          <a:p>
            <a:r>
              <a:rPr lang="en-US" dirty="0"/>
              <a:t>After obtaining a permutation matrix for the different possible routes, we use these routes to find our minimal distance using the distance matrices.</a:t>
            </a:r>
          </a:p>
        </p:txBody>
      </p:sp>
    </p:spTree>
    <p:extLst>
      <p:ext uri="{BB962C8B-B14F-4D97-AF65-F5344CB8AC3E}">
        <p14:creationId xmlns:p14="http://schemas.microsoft.com/office/powerpoint/2010/main" val="277827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F287FE-1EFA-4C15-BFDD-1EE3F2D37BF1}"/>
              </a:ext>
            </a:extLst>
          </p:cNvPr>
          <p:cNvSpPr>
            <a:spLocks noGrp="1"/>
          </p:cNvSpPr>
          <p:nvPr>
            <p:ph type="title"/>
          </p:nvPr>
        </p:nvSpPr>
        <p:spPr>
          <a:xfrm>
            <a:off x="6356206" y="603793"/>
            <a:ext cx="4395340" cy="1716255"/>
          </a:xfrm>
        </p:spPr>
        <p:txBody>
          <a:bodyPr anchor="b">
            <a:normAutofit/>
          </a:bodyPr>
          <a:lstStyle/>
          <a:p>
            <a:r>
              <a:rPr lang="en-US" sz="4600" dirty="0" err="1">
                <a:solidFill>
                  <a:schemeClr val="tx1"/>
                </a:solidFill>
              </a:rPr>
              <a:t>ThE</a:t>
            </a:r>
            <a:r>
              <a:rPr lang="en-US" sz="4600" dirty="0">
                <a:solidFill>
                  <a:schemeClr val="tx1"/>
                </a:solidFill>
              </a:rPr>
              <a:t> Minimal Distances</a:t>
            </a:r>
          </a:p>
        </p:txBody>
      </p:sp>
      <p:sp>
        <p:nvSpPr>
          <p:cNvPr id="18" name="Rectangle 1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20BADB60-2EEC-5793-1BC8-1958FABAD059}"/>
              </a:ext>
            </a:extLst>
          </p:cNvPr>
          <p:cNvPicPr>
            <a:picLocks noChangeAspect="1"/>
          </p:cNvPicPr>
          <p:nvPr/>
        </p:nvPicPr>
        <p:blipFill>
          <a:blip r:embed="rId2"/>
          <a:stretch>
            <a:fillRect/>
          </a:stretch>
        </p:blipFill>
        <p:spPr>
          <a:xfrm>
            <a:off x="223698" y="3548095"/>
            <a:ext cx="5375511" cy="1040165"/>
          </a:xfrm>
          <a:prstGeom prst="rect">
            <a:avLst/>
          </a:prstGeom>
        </p:spPr>
      </p:pic>
      <p:sp>
        <p:nvSpPr>
          <p:cNvPr id="4" name="Date Placeholder 3">
            <a:extLst>
              <a:ext uri="{FF2B5EF4-FFF2-40B4-BE49-F238E27FC236}">
                <a16:creationId xmlns:a16="http://schemas.microsoft.com/office/drawing/2014/main" id="{2F8D5D16-EDC5-46DE-A0B9-0765F4F59BB7}"/>
              </a:ext>
            </a:extLst>
          </p:cNvPr>
          <p:cNvSpPr>
            <a:spLocks noGrp="1"/>
          </p:cNvSpPr>
          <p:nvPr>
            <p:ph type="dt" sz="half" idx="10"/>
          </p:nvPr>
        </p:nvSpPr>
        <p:spPr>
          <a:xfrm>
            <a:off x="838200" y="6356350"/>
            <a:ext cx="2743200" cy="365125"/>
          </a:xfrm>
        </p:spPr>
        <p:txBody>
          <a:bodyPr>
            <a:normAutofit/>
          </a:bodyPr>
          <a:lstStyle/>
          <a:p>
            <a:pPr>
              <a:spcAft>
                <a:spcPts val="600"/>
              </a:spcAft>
            </a:pPr>
            <a:r>
              <a:rPr lang="en-US" dirty="0"/>
              <a:t>12/5/2022</a:t>
            </a:r>
          </a:p>
        </p:txBody>
      </p:sp>
      <p:sp>
        <p:nvSpPr>
          <p:cNvPr id="13" name="Content Placeholder 12">
            <a:extLst>
              <a:ext uri="{FF2B5EF4-FFF2-40B4-BE49-F238E27FC236}">
                <a16:creationId xmlns:a16="http://schemas.microsoft.com/office/drawing/2014/main" id="{A8EBA09F-232D-CA6A-90B9-32167B8C8E1F}"/>
              </a:ext>
            </a:extLst>
          </p:cNvPr>
          <p:cNvSpPr>
            <a:spLocks noGrp="1"/>
          </p:cNvSpPr>
          <p:nvPr>
            <p:ph idx="1"/>
          </p:nvPr>
        </p:nvSpPr>
        <p:spPr>
          <a:xfrm>
            <a:off x="6392583" y="2645922"/>
            <a:ext cx="4434721" cy="3710427"/>
          </a:xfrm>
        </p:spPr>
        <p:txBody>
          <a:bodyPr anchor="t">
            <a:noAutofit/>
          </a:bodyPr>
          <a:lstStyle/>
          <a:p>
            <a:r>
              <a:rPr lang="en-US" sz="1700" dirty="0">
                <a:solidFill>
                  <a:schemeClr val="tx1"/>
                </a:solidFill>
              </a:rPr>
              <a:t>Here, we can start to make some observations. </a:t>
            </a:r>
          </a:p>
          <a:p>
            <a:pPr lvl="1"/>
            <a:r>
              <a:rPr lang="en-US" sz="1700" dirty="0">
                <a:solidFill>
                  <a:schemeClr val="tx1"/>
                </a:solidFill>
              </a:rPr>
              <a:t>First, when the starting city does not matter, the distance traveled without including Madrid is 100km less.</a:t>
            </a:r>
          </a:p>
          <a:p>
            <a:pPr lvl="1"/>
            <a:r>
              <a:rPr lang="en-US" sz="1700" dirty="0">
                <a:solidFill>
                  <a:schemeClr val="tx1"/>
                </a:solidFill>
              </a:rPr>
              <a:t>When you make London your starting city, you can see that the distance traveled increased by about 500km for either case.</a:t>
            </a:r>
          </a:p>
          <a:p>
            <a:pPr lvl="1"/>
            <a:r>
              <a:rPr lang="en-US" sz="1700" dirty="0">
                <a:solidFill>
                  <a:schemeClr val="tx1"/>
                </a:solidFill>
              </a:rPr>
              <a:t>If there is a choice, it might be wise to avoid starting in London to keep our costs down</a:t>
            </a:r>
          </a:p>
          <a:p>
            <a:r>
              <a:rPr lang="en-US" sz="1700" dirty="0">
                <a:solidFill>
                  <a:schemeClr val="tx1"/>
                </a:solidFill>
              </a:rPr>
              <a:t>Note: This distances calculated do not include return trips to the starting cities</a:t>
            </a:r>
          </a:p>
        </p:txBody>
      </p:sp>
      <p:sp>
        <p:nvSpPr>
          <p:cNvPr id="5" name="Footer Placeholder 4">
            <a:extLst>
              <a:ext uri="{FF2B5EF4-FFF2-40B4-BE49-F238E27FC236}">
                <a16:creationId xmlns:a16="http://schemas.microsoft.com/office/drawing/2014/main" id="{63B7C214-9C4B-410D-816A-6B3C8059C7BA}"/>
              </a:ext>
            </a:extLst>
          </p:cNvPr>
          <p:cNvSpPr>
            <a:spLocks noGrp="1"/>
          </p:cNvSpPr>
          <p:nvPr>
            <p:ph type="ftr" sz="quarter" idx="11"/>
          </p:nvPr>
        </p:nvSpPr>
        <p:spPr>
          <a:xfrm rot="16200000">
            <a:off x="9812115" y="1591485"/>
            <a:ext cx="3548094" cy="365125"/>
          </a:xfrm>
        </p:spPr>
        <p:txBody>
          <a:bodyPr>
            <a:normAutofit/>
          </a:bodyPr>
          <a:lstStyle/>
          <a:p>
            <a:pPr>
              <a:spcAft>
                <a:spcPts val="600"/>
              </a:spcAft>
            </a:pPr>
            <a:r>
              <a:rPr lang="en-US">
                <a:solidFill>
                  <a:schemeClr val="accent2"/>
                </a:solidFill>
              </a:rPr>
              <a:t>Discoveries</a:t>
            </a:r>
          </a:p>
        </p:txBody>
      </p:sp>
      <p:sp>
        <p:nvSpPr>
          <p:cNvPr id="6" name="Slide Number Placeholder 5">
            <a:extLst>
              <a:ext uri="{FF2B5EF4-FFF2-40B4-BE49-F238E27FC236}">
                <a16:creationId xmlns:a16="http://schemas.microsoft.com/office/drawing/2014/main" id="{8DE31DF2-0419-4016-924C-21929AC1EBFC}"/>
              </a:ext>
            </a:extLst>
          </p:cNvPr>
          <p:cNvSpPr>
            <a:spLocks noGrp="1"/>
          </p:cNvSpPr>
          <p:nvPr>
            <p:ph type="sldNum" sz="quarter" idx="12"/>
          </p:nvPr>
        </p:nvSpPr>
        <p:spPr>
          <a:xfrm>
            <a:off x="8610600" y="6356350"/>
            <a:ext cx="2743200" cy="365125"/>
          </a:xfrm>
        </p:spPr>
        <p:txBody>
          <a:bodyPr>
            <a:normAutofit/>
          </a:bodyPr>
          <a:lstStyle/>
          <a:p>
            <a:pPr>
              <a:spcAft>
                <a:spcPts val="600"/>
              </a:spcAft>
            </a:pPr>
            <a:fld id="{D8DA9DAA-006C-4F4B-980E-E3DF019B24E2}" type="slidenum">
              <a:rPr lang="en-US">
                <a:solidFill>
                  <a:schemeClr val="accent2"/>
                </a:solidFill>
              </a:rPr>
              <a:pPr>
                <a:spcAft>
                  <a:spcPts val="600"/>
                </a:spcAft>
              </a:pPr>
              <a:t>7</a:t>
            </a:fld>
            <a:endParaRPr lang="en-US">
              <a:solidFill>
                <a:schemeClr val="accent2"/>
              </a:solidFill>
            </a:endParaRPr>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028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E2AA-427B-BDC6-EA9B-3FED1B7EFD3E}"/>
              </a:ext>
            </a:extLst>
          </p:cNvPr>
          <p:cNvSpPr>
            <a:spLocks noGrp="1"/>
          </p:cNvSpPr>
          <p:nvPr>
            <p:ph type="title"/>
          </p:nvPr>
        </p:nvSpPr>
        <p:spPr/>
        <p:txBody>
          <a:bodyPr/>
          <a:lstStyle/>
          <a:p>
            <a:r>
              <a:rPr lang="en-US" dirty="0"/>
              <a:t>The Routes without Madrid</a:t>
            </a:r>
          </a:p>
        </p:txBody>
      </p:sp>
      <p:sp>
        <p:nvSpPr>
          <p:cNvPr id="8" name="Text Placeholder 7">
            <a:extLst>
              <a:ext uri="{FF2B5EF4-FFF2-40B4-BE49-F238E27FC236}">
                <a16:creationId xmlns:a16="http://schemas.microsoft.com/office/drawing/2014/main" id="{F35BBDF8-4DA0-A4CE-7F22-749CC8A5A02B}"/>
              </a:ext>
            </a:extLst>
          </p:cNvPr>
          <p:cNvSpPr>
            <a:spLocks noGrp="1"/>
          </p:cNvSpPr>
          <p:nvPr>
            <p:ph type="body" idx="1"/>
          </p:nvPr>
        </p:nvSpPr>
        <p:spPr/>
        <p:txBody>
          <a:bodyPr/>
          <a:lstStyle/>
          <a:p>
            <a:r>
              <a:rPr lang="en-US" dirty="0"/>
              <a:t>Starting in Lisbon and ending in Rome</a:t>
            </a:r>
          </a:p>
        </p:txBody>
      </p:sp>
      <p:pic>
        <p:nvPicPr>
          <p:cNvPr id="13" name="Content Placeholder 12" descr="Map showing minimal distance traveled between the 11 cities outlined in the Traveling Salesman Problem">
            <a:extLst>
              <a:ext uri="{FF2B5EF4-FFF2-40B4-BE49-F238E27FC236}">
                <a16:creationId xmlns:a16="http://schemas.microsoft.com/office/drawing/2014/main" id="{CBCEC802-CF9A-2A44-475A-AB71BC078D3D}"/>
              </a:ext>
            </a:extLst>
          </p:cNvPr>
          <p:cNvPicPr>
            <a:picLocks noGrp="1" noChangeAspect="1"/>
          </p:cNvPicPr>
          <p:nvPr>
            <p:ph sz="half" idx="2"/>
          </p:nvPr>
        </p:nvPicPr>
        <p:blipFill>
          <a:blip r:embed="rId2"/>
          <a:stretch>
            <a:fillRect/>
          </a:stretch>
        </p:blipFill>
        <p:spPr>
          <a:xfrm>
            <a:off x="1444624" y="2639417"/>
            <a:ext cx="4699583" cy="3524687"/>
          </a:xfrm>
        </p:spPr>
      </p:pic>
      <p:sp>
        <p:nvSpPr>
          <p:cNvPr id="10" name="Text Placeholder 9">
            <a:extLst>
              <a:ext uri="{FF2B5EF4-FFF2-40B4-BE49-F238E27FC236}">
                <a16:creationId xmlns:a16="http://schemas.microsoft.com/office/drawing/2014/main" id="{4C44A8E6-BDF2-2114-E92D-99A25E1D83E6}"/>
              </a:ext>
            </a:extLst>
          </p:cNvPr>
          <p:cNvSpPr>
            <a:spLocks noGrp="1"/>
          </p:cNvSpPr>
          <p:nvPr>
            <p:ph type="body" sz="quarter" idx="3"/>
          </p:nvPr>
        </p:nvSpPr>
        <p:spPr/>
        <p:txBody>
          <a:bodyPr/>
          <a:lstStyle/>
          <a:p>
            <a:r>
              <a:rPr lang="en-US" dirty="0"/>
              <a:t>Starting in London and in Lisbon</a:t>
            </a:r>
          </a:p>
        </p:txBody>
      </p:sp>
      <p:pic>
        <p:nvPicPr>
          <p:cNvPr id="15" name="Content Placeholder 14" descr="Map showing minimal distance traveled between the 11 cities outlined in the Traveling Salesman Problem">
            <a:extLst>
              <a:ext uri="{FF2B5EF4-FFF2-40B4-BE49-F238E27FC236}">
                <a16:creationId xmlns:a16="http://schemas.microsoft.com/office/drawing/2014/main" id="{828092FD-63FC-E65B-BEA7-D437748121DA}"/>
              </a:ext>
            </a:extLst>
          </p:cNvPr>
          <p:cNvPicPr>
            <a:picLocks noGrp="1" noChangeAspect="1"/>
          </p:cNvPicPr>
          <p:nvPr>
            <p:ph sz="quarter" idx="4"/>
          </p:nvPr>
        </p:nvPicPr>
        <p:blipFill>
          <a:blip r:embed="rId3"/>
          <a:stretch>
            <a:fillRect/>
          </a:stretch>
        </p:blipFill>
        <p:spPr>
          <a:xfrm>
            <a:off x="6784975" y="2640013"/>
            <a:ext cx="4699582" cy="3524686"/>
          </a:xfrm>
        </p:spPr>
      </p:pic>
      <p:sp>
        <p:nvSpPr>
          <p:cNvPr id="4" name="Slide Number Placeholder 3">
            <a:extLst>
              <a:ext uri="{FF2B5EF4-FFF2-40B4-BE49-F238E27FC236}">
                <a16:creationId xmlns:a16="http://schemas.microsoft.com/office/drawing/2014/main" id="{745F2073-F00F-A5B6-B45F-EFCCFA03E096}"/>
              </a:ext>
            </a:extLst>
          </p:cNvPr>
          <p:cNvSpPr>
            <a:spLocks noGrp="1"/>
          </p:cNvSpPr>
          <p:nvPr>
            <p:ph type="sldNum" sz="quarter" idx="4294967295"/>
          </p:nvPr>
        </p:nvSpPr>
        <p:spPr>
          <a:xfrm>
            <a:off x="9448800" y="6356350"/>
            <a:ext cx="2743200" cy="365125"/>
          </a:xfrm>
        </p:spPr>
        <p:txBody>
          <a:bodyPr/>
          <a:lstStyle/>
          <a:p>
            <a:fld id="{D8DA9DAA-006C-4F4B-980E-E3DF019B24E2}" type="slidenum">
              <a:rPr lang="en-US" smtClean="0"/>
              <a:t>8</a:t>
            </a:fld>
            <a:endParaRPr lang="en-US" dirty="0"/>
          </a:p>
        </p:txBody>
      </p:sp>
      <p:sp>
        <p:nvSpPr>
          <p:cNvPr id="16" name="TextBox 15">
            <a:extLst>
              <a:ext uri="{FF2B5EF4-FFF2-40B4-BE49-F238E27FC236}">
                <a16:creationId xmlns:a16="http://schemas.microsoft.com/office/drawing/2014/main" id="{7229E8A1-8088-C94A-EC85-09A3B951C5D7}"/>
              </a:ext>
            </a:extLst>
          </p:cNvPr>
          <p:cNvSpPr txBox="1"/>
          <p:nvPr/>
        </p:nvSpPr>
        <p:spPr>
          <a:xfrm>
            <a:off x="1268963" y="6190051"/>
            <a:ext cx="6078894" cy="369332"/>
          </a:xfrm>
          <a:prstGeom prst="rect">
            <a:avLst/>
          </a:prstGeom>
          <a:noFill/>
        </p:spPr>
        <p:txBody>
          <a:bodyPr wrap="square" rtlCol="0">
            <a:spAutoFit/>
          </a:bodyPr>
          <a:lstStyle/>
          <a:p>
            <a:r>
              <a:rPr lang="en-US" dirty="0"/>
              <a:t>The purple line marks a path back to the starting city</a:t>
            </a:r>
          </a:p>
        </p:txBody>
      </p:sp>
    </p:spTree>
    <p:extLst>
      <p:ext uri="{BB962C8B-B14F-4D97-AF65-F5344CB8AC3E}">
        <p14:creationId xmlns:p14="http://schemas.microsoft.com/office/powerpoint/2010/main" val="1003695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E2AA-427B-BDC6-EA9B-3FED1B7EFD3E}"/>
              </a:ext>
            </a:extLst>
          </p:cNvPr>
          <p:cNvSpPr>
            <a:spLocks noGrp="1"/>
          </p:cNvSpPr>
          <p:nvPr>
            <p:ph type="title"/>
          </p:nvPr>
        </p:nvSpPr>
        <p:spPr/>
        <p:txBody>
          <a:bodyPr/>
          <a:lstStyle/>
          <a:p>
            <a:r>
              <a:rPr lang="en-US" dirty="0"/>
              <a:t>The Routes with Madrid</a:t>
            </a:r>
          </a:p>
        </p:txBody>
      </p:sp>
      <p:sp>
        <p:nvSpPr>
          <p:cNvPr id="8" name="Text Placeholder 7">
            <a:extLst>
              <a:ext uri="{FF2B5EF4-FFF2-40B4-BE49-F238E27FC236}">
                <a16:creationId xmlns:a16="http://schemas.microsoft.com/office/drawing/2014/main" id="{F35BBDF8-4DA0-A4CE-7F22-749CC8A5A02B}"/>
              </a:ext>
            </a:extLst>
          </p:cNvPr>
          <p:cNvSpPr>
            <a:spLocks noGrp="1"/>
          </p:cNvSpPr>
          <p:nvPr>
            <p:ph type="body" idx="1"/>
          </p:nvPr>
        </p:nvSpPr>
        <p:spPr/>
        <p:txBody>
          <a:bodyPr/>
          <a:lstStyle/>
          <a:p>
            <a:r>
              <a:rPr lang="en-US" dirty="0"/>
              <a:t>Starting in Lisbon and ending in Rome</a:t>
            </a:r>
          </a:p>
        </p:txBody>
      </p:sp>
      <p:pic>
        <p:nvPicPr>
          <p:cNvPr id="13" name="Content Placeholder 12" descr="Map showing minimal distance traveled between the 11 cities outlined in the Traveling Salesman Problem but including Madrid now">
            <a:extLst>
              <a:ext uri="{FF2B5EF4-FFF2-40B4-BE49-F238E27FC236}">
                <a16:creationId xmlns:a16="http://schemas.microsoft.com/office/drawing/2014/main" id="{CBCEC802-CF9A-2A44-475A-AB71BC078D3D}"/>
              </a:ext>
            </a:extLst>
          </p:cNvPr>
          <p:cNvPicPr>
            <a:picLocks noGrp="1" noChangeAspect="1"/>
          </p:cNvPicPr>
          <p:nvPr>
            <p:ph sz="half" idx="2"/>
          </p:nvPr>
        </p:nvPicPr>
        <p:blipFill>
          <a:blip r:embed="rId2"/>
          <a:srcRect/>
          <a:stretch/>
        </p:blipFill>
        <p:spPr>
          <a:xfrm>
            <a:off x="1444624" y="2639417"/>
            <a:ext cx="4699582" cy="3524687"/>
          </a:xfrm>
        </p:spPr>
      </p:pic>
      <p:sp>
        <p:nvSpPr>
          <p:cNvPr id="10" name="Text Placeholder 9">
            <a:extLst>
              <a:ext uri="{FF2B5EF4-FFF2-40B4-BE49-F238E27FC236}">
                <a16:creationId xmlns:a16="http://schemas.microsoft.com/office/drawing/2014/main" id="{4C44A8E6-BDF2-2114-E92D-99A25E1D83E6}"/>
              </a:ext>
            </a:extLst>
          </p:cNvPr>
          <p:cNvSpPr>
            <a:spLocks noGrp="1"/>
          </p:cNvSpPr>
          <p:nvPr>
            <p:ph type="body" sz="quarter" idx="3"/>
          </p:nvPr>
        </p:nvSpPr>
        <p:spPr/>
        <p:txBody>
          <a:bodyPr/>
          <a:lstStyle/>
          <a:p>
            <a:r>
              <a:rPr lang="en-US" dirty="0"/>
              <a:t>Starting in London and in Lisbon</a:t>
            </a:r>
          </a:p>
        </p:txBody>
      </p:sp>
      <p:pic>
        <p:nvPicPr>
          <p:cNvPr id="15" name="Content Placeholder 14" descr="Map showing minimal distance traveled between the 11 cities outlined in the Traveling Salesman Problem but including Madrid now">
            <a:extLst>
              <a:ext uri="{FF2B5EF4-FFF2-40B4-BE49-F238E27FC236}">
                <a16:creationId xmlns:a16="http://schemas.microsoft.com/office/drawing/2014/main" id="{828092FD-63FC-E65B-BEA7-D437748121DA}"/>
              </a:ext>
            </a:extLst>
          </p:cNvPr>
          <p:cNvPicPr>
            <a:picLocks noGrp="1" noChangeAspect="1"/>
          </p:cNvPicPr>
          <p:nvPr>
            <p:ph sz="quarter" idx="4"/>
          </p:nvPr>
        </p:nvPicPr>
        <p:blipFill>
          <a:blip r:embed="rId3"/>
          <a:srcRect/>
          <a:stretch/>
        </p:blipFill>
        <p:spPr>
          <a:xfrm>
            <a:off x="6784975" y="2640013"/>
            <a:ext cx="4699581" cy="3524686"/>
          </a:xfrm>
        </p:spPr>
      </p:pic>
      <p:sp>
        <p:nvSpPr>
          <p:cNvPr id="4" name="Slide Number Placeholder 3">
            <a:extLst>
              <a:ext uri="{FF2B5EF4-FFF2-40B4-BE49-F238E27FC236}">
                <a16:creationId xmlns:a16="http://schemas.microsoft.com/office/drawing/2014/main" id="{745F2073-F00F-A5B6-B45F-EFCCFA03E096}"/>
              </a:ext>
            </a:extLst>
          </p:cNvPr>
          <p:cNvSpPr>
            <a:spLocks noGrp="1"/>
          </p:cNvSpPr>
          <p:nvPr>
            <p:ph type="sldNum" sz="quarter" idx="4294967295"/>
          </p:nvPr>
        </p:nvSpPr>
        <p:spPr>
          <a:xfrm>
            <a:off x="9448800" y="6356350"/>
            <a:ext cx="2743200" cy="365125"/>
          </a:xfrm>
        </p:spPr>
        <p:txBody>
          <a:bodyPr/>
          <a:lstStyle/>
          <a:p>
            <a:fld id="{D8DA9DAA-006C-4F4B-980E-E3DF019B24E2}" type="slidenum">
              <a:rPr lang="en-US" smtClean="0"/>
              <a:t>9</a:t>
            </a:fld>
            <a:endParaRPr lang="en-US" dirty="0"/>
          </a:p>
        </p:txBody>
      </p:sp>
      <p:sp>
        <p:nvSpPr>
          <p:cNvPr id="16" name="TextBox 15">
            <a:extLst>
              <a:ext uri="{FF2B5EF4-FFF2-40B4-BE49-F238E27FC236}">
                <a16:creationId xmlns:a16="http://schemas.microsoft.com/office/drawing/2014/main" id="{7229E8A1-8088-C94A-EC85-09A3B951C5D7}"/>
              </a:ext>
            </a:extLst>
          </p:cNvPr>
          <p:cNvSpPr txBox="1"/>
          <p:nvPr/>
        </p:nvSpPr>
        <p:spPr>
          <a:xfrm>
            <a:off x="1268963" y="6190051"/>
            <a:ext cx="6078894" cy="369332"/>
          </a:xfrm>
          <a:prstGeom prst="rect">
            <a:avLst/>
          </a:prstGeom>
          <a:noFill/>
        </p:spPr>
        <p:txBody>
          <a:bodyPr wrap="square" rtlCol="0">
            <a:spAutoFit/>
          </a:bodyPr>
          <a:lstStyle/>
          <a:p>
            <a:r>
              <a:rPr lang="en-US" dirty="0"/>
              <a:t>The purple line marks a path back to the starting city</a:t>
            </a:r>
          </a:p>
        </p:txBody>
      </p:sp>
    </p:spTree>
    <p:extLst>
      <p:ext uri="{BB962C8B-B14F-4D97-AF65-F5344CB8AC3E}">
        <p14:creationId xmlns:p14="http://schemas.microsoft.com/office/powerpoint/2010/main" val="144598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FB28F-C9D7-439B-B863-44B4E851A0B0}"/>
              </a:ext>
            </a:extLst>
          </p:cNvPr>
          <p:cNvSpPr>
            <a:spLocks noGrp="1"/>
          </p:cNvSpPr>
          <p:nvPr>
            <p:ph type="ctrTitle"/>
          </p:nvPr>
        </p:nvSpPr>
        <p:spPr/>
        <p:txBody>
          <a:bodyPr>
            <a:normAutofit/>
          </a:bodyPr>
          <a:lstStyle/>
          <a:p>
            <a:r>
              <a:rPr lang="en-US" dirty="0"/>
              <a:t>The Cost</a:t>
            </a:r>
          </a:p>
        </p:txBody>
      </p:sp>
      <p:sp>
        <p:nvSpPr>
          <p:cNvPr id="8" name="Subtitle 7">
            <a:extLst>
              <a:ext uri="{FF2B5EF4-FFF2-40B4-BE49-F238E27FC236}">
                <a16:creationId xmlns:a16="http://schemas.microsoft.com/office/drawing/2014/main" id="{50061247-EA4F-4DFA-AFCE-648487762CF7}"/>
              </a:ext>
            </a:extLst>
          </p:cNvPr>
          <p:cNvSpPr>
            <a:spLocks noGrp="1"/>
          </p:cNvSpPr>
          <p:nvPr>
            <p:ph type="subTitle" idx="1"/>
          </p:nvPr>
        </p:nvSpPr>
        <p:spPr/>
        <p:txBody>
          <a:bodyPr>
            <a:normAutofit lnSpcReduction="10000"/>
          </a:bodyPr>
          <a:lstStyle/>
          <a:p>
            <a:pPr marL="342900" indent="-342900">
              <a:buFont typeface="Arial" panose="020B0604020202020204" pitchFamily="34" charset="0"/>
              <a:buChar char="•"/>
            </a:pPr>
            <a:r>
              <a:rPr lang="en-US" dirty="0"/>
              <a:t>When calculating the overall cost, some assumptions will be made:</a:t>
            </a:r>
          </a:p>
          <a:p>
            <a:pPr marL="822960" lvl="1" indent="-342900" algn="l">
              <a:buFont typeface="Arial" panose="020B0604020202020204" pitchFamily="34" charset="0"/>
              <a:buChar char="•"/>
            </a:pPr>
            <a:r>
              <a:rPr lang="en-US" dirty="0"/>
              <a:t>The petrol prices are estimated to be 2 Euro/per liter</a:t>
            </a:r>
          </a:p>
          <a:p>
            <a:pPr marL="822960" lvl="1" indent="-342900" algn="l">
              <a:buFont typeface="Arial" panose="020B0604020202020204" pitchFamily="34" charset="0"/>
              <a:buChar char="•"/>
            </a:pPr>
            <a:r>
              <a:rPr lang="en-US" dirty="0"/>
              <a:t>A hotel will cost 100 Euro a night, and we will be staying in each city for two nights</a:t>
            </a:r>
          </a:p>
          <a:p>
            <a:pPr marL="822960" lvl="1" indent="-342900" algn="l">
              <a:buFont typeface="Arial" panose="020B0604020202020204" pitchFamily="34" charset="0"/>
              <a:buChar char="•"/>
            </a:pPr>
            <a:r>
              <a:rPr lang="en-US" dirty="0"/>
              <a:t>A small rental car, in this case, a manual Hyundai i10, will cost no more than 750 Euros for unlimited mileage for the trip and will get 20 km/l.</a:t>
            </a:r>
          </a:p>
        </p:txBody>
      </p:sp>
      <p:pic>
        <p:nvPicPr>
          <p:cNvPr id="22" name="Picture Placeholder 21" descr="mountains under near dusk sky">
            <a:extLst>
              <a:ext uri="{FF2B5EF4-FFF2-40B4-BE49-F238E27FC236}">
                <a16:creationId xmlns:a16="http://schemas.microsoft.com/office/drawing/2014/main" id="{D8AC51EB-1C22-4303-8354-FC97950C7DE6}"/>
              </a:ext>
            </a:extLst>
          </p:cNvPr>
          <p:cNvPicPr>
            <a:picLocks noGrp="1" noChangeAspect="1"/>
          </p:cNvPicPr>
          <p:nvPr>
            <p:ph type="pic" sz="quarter" idx="13"/>
          </p:nvPr>
        </p:nvPicPr>
        <p:blipFill rotWithShape="1">
          <a:blip r:embed="rId2"/>
          <a:srcRect t="63" b="63"/>
          <a:stretch/>
        </p:blipFill>
        <p:spPr/>
      </p:pic>
      <p:pic>
        <p:nvPicPr>
          <p:cNvPr id="18" name="Picture Placeholder 17" descr="mountains at sunset">
            <a:extLst>
              <a:ext uri="{FF2B5EF4-FFF2-40B4-BE49-F238E27FC236}">
                <a16:creationId xmlns:a16="http://schemas.microsoft.com/office/drawing/2014/main" id="{B503D699-E643-4969-9463-5C6331D0C869}"/>
              </a:ext>
            </a:extLst>
          </p:cNvPr>
          <p:cNvPicPr>
            <a:picLocks noGrp="1" noChangeAspect="1"/>
          </p:cNvPicPr>
          <p:nvPr>
            <p:ph type="pic" sz="quarter" idx="14"/>
          </p:nvPr>
        </p:nvPicPr>
        <p:blipFill rotWithShape="1">
          <a:blip r:embed="rId3"/>
          <a:srcRect t="177" b="177"/>
          <a:stretch/>
        </p:blipFill>
        <p:spPr/>
      </p:pic>
      <p:pic>
        <p:nvPicPr>
          <p:cNvPr id="20" name="Picture Placeholder 19" descr="mountains at sunset">
            <a:extLst>
              <a:ext uri="{FF2B5EF4-FFF2-40B4-BE49-F238E27FC236}">
                <a16:creationId xmlns:a16="http://schemas.microsoft.com/office/drawing/2014/main" id="{B8714555-7486-4DD7-A96C-52C276483584}"/>
              </a:ext>
            </a:extLst>
          </p:cNvPr>
          <p:cNvPicPr>
            <a:picLocks noGrp="1" noChangeAspect="1"/>
          </p:cNvPicPr>
          <p:nvPr>
            <p:ph type="pic" sz="quarter" idx="15"/>
          </p:nvPr>
        </p:nvPicPr>
        <p:blipFill rotWithShape="1">
          <a:blip r:embed="rId4"/>
          <a:srcRect t="209" b="209"/>
          <a:stretch/>
        </p:blipFill>
        <p:spPr/>
      </p:pic>
      <p:sp>
        <p:nvSpPr>
          <p:cNvPr id="23" name="Footer Placeholder 22">
            <a:extLst>
              <a:ext uri="{FF2B5EF4-FFF2-40B4-BE49-F238E27FC236}">
                <a16:creationId xmlns:a16="http://schemas.microsoft.com/office/drawing/2014/main" id="{249ACE4E-0038-4BA2-8883-8C3F73B79C44}"/>
              </a:ext>
            </a:extLst>
          </p:cNvPr>
          <p:cNvSpPr>
            <a:spLocks noGrp="1"/>
          </p:cNvSpPr>
          <p:nvPr>
            <p:ph type="ftr" sz="quarter" idx="11"/>
          </p:nvPr>
        </p:nvSpPr>
        <p:spPr/>
        <p:txBody>
          <a:bodyPr/>
          <a:lstStyle/>
          <a:p>
            <a:r>
              <a:rPr lang="en-US" dirty="0"/>
              <a:t>Results and Questions</a:t>
            </a:r>
          </a:p>
        </p:txBody>
      </p:sp>
      <p:sp>
        <p:nvSpPr>
          <p:cNvPr id="24" name="Slide Number Placeholder 23">
            <a:extLst>
              <a:ext uri="{FF2B5EF4-FFF2-40B4-BE49-F238E27FC236}">
                <a16:creationId xmlns:a16="http://schemas.microsoft.com/office/drawing/2014/main" id="{9A686A52-7630-4675-B383-8C2AD252EC1F}"/>
              </a:ext>
            </a:extLst>
          </p:cNvPr>
          <p:cNvSpPr>
            <a:spLocks noGrp="1"/>
          </p:cNvSpPr>
          <p:nvPr>
            <p:ph type="sldNum" sz="quarter" idx="12"/>
          </p:nvPr>
        </p:nvSpPr>
        <p:spPr/>
        <p:txBody>
          <a:bodyPr/>
          <a:lstStyle/>
          <a:p>
            <a:fld id="{D8DA9DAA-006C-4F4B-980E-E3DF019B24E2}" type="slidenum">
              <a:rPr lang="en-US" smtClean="0"/>
              <a:pPr/>
              <a:t>10</a:t>
            </a:fld>
            <a:endParaRPr lang="en-US" dirty="0"/>
          </a:p>
        </p:txBody>
      </p:sp>
    </p:spTree>
    <p:extLst>
      <p:ext uri="{BB962C8B-B14F-4D97-AF65-F5344CB8AC3E}">
        <p14:creationId xmlns:p14="http://schemas.microsoft.com/office/powerpoint/2010/main" val="3584772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6485278-3D07-466F-8351-667A2EBEABB8}"/>
              </a:ext>
            </a:extLst>
          </p:cNvPr>
          <p:cNvSpPr>
            <a:spLocks noGrp="1"/>
          </p:cNvSpPr>
          <p:nvPr>
            <p:ph type="title"/>
          </p:nvPr>
        </p:nvSpPr>
        <p:spPr>
          <a:xfrm>
            <a:off x="838200" y="1336390"/>
            <a:ext cx="6155988" cy="1182927"/>
          </a:xfrm>
        </p:spPr>
        <p:txBody>
          <a:bodyPr anchor="b">
            <a:normAutofit/>
          </a:bodyPr>
          <a:lstStyle/>
          <a:p>
            <a:r>
              <a:rPr lang="en-US" sz="4600"/>
              <a:t>The Cost (continued)</a:t>
            </a:r>
          </a:p>
        </p:txBody>
      </p:sp>
      <p:cxnSp>
        <p:nvCxnSpPr>
          <p:cNvPr id="15" name="Straight Connector 14">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06C7B8A6-DCC2-1013-8923-4B32BB5E62CD}"/>
              </a:ext>
            </a:extLst>
          </p:cNvPr>
          <p:cNvSpPr>
            <a:spLocks noGrp="1"/>
          </p:cNvSpPr>
          <p:nvPr>
            <p:ph idx="1"/>
          </p:nvPr>
        </p:nvSpPr>
        <p:spPr>
          <a:xfrm>
            <a:off x="803776" y="2829330"/>
            <a:ext cx="6190412" cy="3344459"/>
          </a:xfrm>
        </p:spPr>
        <p:txBody>
          <a:bodyPr anchor="t">
            <a:normAutofit/>
          </a:bodyPr>
          <a:lstStyle/>
          <a:p>
            <a:r>
              <a:rPr lang="en-US" sz="1800" dirty="0"/>
              <a:t>Looking at the cost table displayed, we can see only about a 10 Euro difference when selecting whether we start in London or now.</a:t>
            </a:r>
          </a:p>
          <a:p>
            <a:pPr lvl="1"/>
            <a:r>
              <a:rPr lang="en-US" sz="1400" dirty="0"/>
              <a:t>However, with the addition of Madrid, the difference in cost is about 500 Euro in either case. </a:t>
            </a:r>
          </a:p>
          <a:p>
            <a:r>
              <a:rPr lang="en-US" sz="1800" dirty="0"/>
              <a:t>However, it should be noted that this cost estimate does not include any possible ferries that our trip might include. </a:t>
            </a:r>
          </a:p>
          <a:p>
            <a:endParaRPr lang="en-US" sz="1800" dirty="0"/>
          </a:p>
        </p:txBody>
      </p:sp>
      <p:pic>
        <p:nvPicPr>
          <p:cNvPr id="5" name="Content Placeholder 4">
            <a:extLst>
              <a:ext uri="{FF2B5EF4-FFF2-40B4-BE49-F238E27FC236}">
                <a16:creationId xmlns:a16="http://schemas.microsoft.com/office/drawing/2014/main" id="{1D12F33D-A1A5-C15A-2D08-A6B6D1CA9B19}"/>
              </a:ext>
            </a:extLst>
          </p:cNvPr>
          <p:cNvPicPr>
            <a:picLocks noChangeAspect="1"/>
          </p:cNvPicPr>
          <p:nvPr/>
        </p:nvPicPr>
        <p:blipFill>
          <a:blip r:embed="rId2"/>
          <a:stretch>
            <a:fillRect/>
          </a:stretch>
        </p:blipFill>
        <p:spPr>
          <a:xfrm>
            <a:off x="7572653" y="3193685"/>
            <a:ext cx="3548404" cy="1122804"/>
          </a:xfrm>
          <a:prstGeom prst="rect">
            <a:avLst/>
          </a:prstGeom>
        </p:spPr>
      </p:pic>
      <p:sp>
        <p:nvSpPr>
          <p:cNvPr id="1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AB55FF1C-3CBD-419A-9DE4-7A8AA6371B6A}"/>
              </a:ext>
            </a:extLst>
          </p:cNvPr>
          <p:cNvSpPr>
            <a:spLocks noGrp="1"/>
          </p:cNvSpPr>
          <p:nvPr>
            <p:ph type="sldNum" sz="quarter" idx="12"/>
          </p:nvPr>
        </p:nvSpPr>
        <p:spPr>
          <a:xfrm>
            <a:off x="8610600" y="6356350"/>
            <a:ext cx="2743200" cy="365125"/>
          </a:xfrm>
        </p:spPr>
        <p:txBody>
          <a:bodyPr>
            <a:normAutofit/>
          </a:bodyPr>
          <a:lstStyle/>
          <a:p>
            <a:pPr>
              <a:spcAft>
                <a:spcPts val="600"/>
              </a:spcAft>
            </a:pPr>
            <a:fld id="{D8DA9DAA-006C-4F4B-980E-E3DF019B24E2}" type="slidenum">
              <a:rPr lang="en-US" b="1" cap="all" spc="100" smtClean="0">
                <a:solidFill>
                  <a:schemeClr val="accent2"/>
                </a:solidFill>
              </a:rPr>
              <a:pPr>
                <a:spcAft>
                  <a:spcPts val="600"/>
                </a:spcAft>
              </a:pPr>
              <a:t>11</a:t>
            </a:fld>
            <a:endParaRPr lang="en-US" b="1" cap="all" spc="100" dirty="0">
              <a:solidFill>
                <a:schemeClr val="accent2"/>
              </a:solidFill>
            </a:endParaRPr>
          </a:p>
        </p:txBody>
      </p:sp>
    </p:spTree>
    <p:extLst>
      <p:ext uri="{BB962C8B-B14F-4D97-AF65-F5344CB8AC3E}">
        <p14:creationId xmlns:p14="http://schemas.microsoft.com/office/powerpoint/2010/main" val="3159288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692474E6-3035-46B8-9C05-9B4204E8ED39}"/>
              </a:ext>
            </a:extLst>
          </p:cNvPr>
          <p:cNvSpPr>
            <a:spLocks noGrp="1"/>
          </p:cNvSpPr>
          <p:nvPr>
            <p:ph type="dt" sz="half" idx="10"/>
          </p:nvPr>
        </p:nvSpPr>
        <p:spPr/>
        <p:txBody>
          <a:bodyPr/>
          <a:lstStyle/>
          <a:p>
            <a:r>
              <a:rPr lang="en-US" dirty="0"/>
              <a:t>12/5/2022</a:t>
            </a:r>
          </a:p>
        </p:txBody>
      </p:sp>
      <p:sp>
        <p:nvSpPr>
          <p:cNvPr id="24" name="Slide Number Placeholder 23">
            <a:extLst>
              <a:ext uri="{FF2B5EF4-FFF2-40B4-BE49-F238E27FC236}">
                <a16:creationId xmlns:a16="http://schemas.microsoft.com/office/drawing/2014/main" id="{5D838446-B95D-4AB7-B8CA-D5804BB79A11}"/>
              </a:ext>
            </a:extLst>
          </p:cNvPr>
          <p:cNvSpPr>
            <a:spLocks noGrp="1"/>
          </p:cNvSpPr>
          <p:nvPr>
            <p:ph type="sldNum" sz="quarter" idx="12"/>
          </p:nvPr>
        </p:nvSpPr>
        <p:spPr/>
        <p:txBody>
          <a:bodyPr/>
          <a:lstStyle/>
          <a:p>
            <a:fld id="{D8DA9DAA-006C-4F4B-980E-E3DF019B24E2}" type="slidenum">
              <a:rPr lang="en-US" smtClean="0"/>
              <a:pPr/>
              <a:t>12</a:t>
            </a:fld>
            <a:endParaRPr lang="en-US" dirty="0"/>
          </a:p>
        </p:txBody>
      </p:sp>
      <p:sp>
        <p:nvSpPr>
          <p:cNvPr id="23" name="Footer Placeholder 22">
            <a:extLst>
              <a:ext uri="{FF2B5EF4-FFF2-40B4-BE49-F238E27FC236}">
                <a16:creationId xmlns:a16="http://schemas.microsoft.com/office/drawing/2014/main" id="{DE8D546E-0F46-4CC0-B2B1-8B2430D00C0C}"/>
              </a:ext>
            </a:extLst>
          </p:cNvPr>
          <p:cNvSpPr>
            <a:spLocks noGrp="1"/>
          </p:cNvSpPr>
          <p:nvPr>
            <p:ph type="ftr" sz="quarter" idx="11"/>
          </p:nvPr>
        </p:nvSpPr>
        <p:spPr/>
        <p:txBody>
          <a:bodyPr/>
          <a:lstStyle/>
          <a:p>
            <a:r>
              <a:rPr lang="en-US" dirty="0"/>
              <a:t>Cos 701 Final Project</a:t>
            </a:r>
          </a:p>
        </p:txBody>
      </p:sp>
      <p:pic>
        <p:nvPicPr>
          <p:cNvPr id="9" name="Picture Placeholder 8" descr="mountains at sunset">
            <a:extLst>
              <a:ext uri="{FF2B5EF4-FFF2-40B4-BE49-F238E27FC236}">
                <a16:creationId xmlns:a16="http://schemas.microsoft.com/office/drawing/2014/main" id="{C82DA925-978C-48A9-98AD-0653B7A3D2D9}"/>
              </a:ext>
            </a:extLst>
          </p:cNvPr>
          <p:cNvPicPr>
            <a:picLocks noGrp="1" noChangeAspect="1"/>
          </p:cNvPicPr>
          <p:nvPr>
            <p:ph type="pic" sz="quarter" idx="14"/>
          </p:nvPr>
        </p:nvPicPr>
        <p:blipFill rotWithShape="1">
          <a:blip r:embed="rId2"/>
          <a:srcRect t="41" b="41"/>
          <a:stretch/>
        </p:blipFill>
        <p:spPr/>
      </p:pic>
      <p:pic>
        <p:nvPicPr>
          <p:cNvPr id="11" name="Picture Placeholder 10" descr="mountains at sunset">
            <a:extLst>
              <a:ext uri="{FF2B5EF4-FFF2-40B4-BE49-F238E27FC236}">
                <a16:creationId xmlns:a16="http://schemas.microsoft.com/office/drawing/2014/main" id="{E63B7C3F-04A4-43F6-881D-FA11061CBAFA}"/>
              </a:ext>
            </a:extLst>
          </p:cNvPr>
          <p:cNvPicPr>
            <a:picLocks noGrp="1" noChangeAspect="1"/>
          </p:cNvPicPr>
          <p:nvPr>
            <p:ph type="pic" sz="quarter" idx="15"/>
          </p:nvPr>
        </p:nvPicPr>
        <p:blipFill rotWithShape="1">
          <a:blip r:embed="rId3"/>
          <a:srcRect t="347" b="347"/>
          <a:stretch/>
        </p:blipFill>
        <p:spPr/>
      </p:pic>
      <p:sp>
        <p:nvSpPr>
          <p:cNvPr id="6" name="Title 5">
            <a:extLst>
              <a:ext uri="{FF2B5EF4-FFF2-40B4-BE49-F238E27FC236}">
                <a16:creationId xmlns:a16="http://schemas.microsoft.com/office/drawing/2014/main" id="{FF777B66-94CB-491C-AC6B-BDAC98E21D57}"/>
              </a:ext>
            </a:extLst>
          </p:cNvPr>
          <p:cNvSpPr>
            <a:spLocks noGrp="1"/>
          </p:cNvSpPr>
          <p:nvPr>
            <p:ph type="title"/>
          </p:nvPr>
        </p:nvSpPr>
        <p:spPr/>
        <p:txBody>
          <a:bodyPr/>
          <a:lstStyle/>
          <a:p>
            <a:r>
              <a:rPr lang="en-US" dirty="0"/>
              <a:t>Thank you</a:t>
            </a:r>
          </a:p>
        </p:txBody>
      </p:sp>
      <p:sp>
        <p:nvSpPr>
          <p:cNvPr id="7" name="Text Placeholder 6">
            <a:extLst>
              <a:ext uri="{FF2B5EF4-FFF2-40B4-BE49-F238E27FC236}">
                <a16:creationId xmlns:a16="http://schemas.microsoft.com/office/drawing/2014/main" id="{42AF1107-8D35-4E35-93C7-D3640946F742}"/>
              </a:ext>
            </a:extLst>
          </p:cNvPr>
          <p:cNvSpPr>
            <a:spLocks noGrp="1"/>
          </p:cNvSpPr>
          <p:nvPr>
            <p:ph type="body" sz="quarter" idx="13"/>
          </p:nvPr>
        </p:nvSpPr>
        <p:spPr/>
        <p:txBody>
          <a:bodyPr/>
          <a:lstStyle/>
          <a:p>
            <a:r>
              <a:rPr lang="en-US" dirty="0"/>
              <a:t>Rachel Prather</a:t>
            </a:r>
          </a:p>
          <a:p>
            <a:r>
              <a:rPr lang="en-US" dirty="0"/>
              <a:t>Questions?</a:t>
            </a:r>
          </a:p>
          <a:p>
            <a:endParaRPr lang="en-US" dirty="0"/>
          </a:p>
          <a:p>
            <a:endParaRPr lang="en-US" dirty="0"/>
          </a:p>
        </p:txBody>
      </p:sp>
      <p:pic>
        <p:nvPicPr>
          <p:cNvPr id="15" name="Picture Placeholder 14" descr="mountains under near dusk sky">
            <a:extLst>
              <a:ext uri="{FF2B5EF4-FFF2-40B4-BE49-F238E27FC236}">
                <a16:creationId xmlns:a16="http://schemas.microsoft.com/office/drawing/2014/main" id="{3D15FDC1-74B5-4FD8-BD17-0E2502C411A6}"/>
              </a:ext>
            </a:extLst>
          </p:cNvPr>
          <p:cNvPicPr>
            <a:picLocks noGrp="1" noChangeAspect="1"/>
          </p:cNvPicPr>
          <p:nvPr>
            <p:ph type="pic" sz="quarter" idx="17"/>
          </p:nvPr>
        </p:nvPicPr>
        <p:blipFill rotWithShape="1">
          <a:blip r:embed="rId4"/>
          <a:srcRect l="16" r="16"/>
          <a:stretch/>
        </p:blipFill>
        <p:spPr/>
      </p:pic>
      <p:pic>
        <p:nvPicPr>
          <p:cNvPr id="13" name="Picture Placeholder 12" descr="mountains under the night sky just before dawn">
            <a:extLst>
              <a:ext uri="{FF2B5EF4-FFF2-40B4-BE49-F238E27FC236}">
                <a16:creationId xmlns:a16="http://schemas.microsoft.com/office/drawing/2014/main" id="{E02C4914-F076-4415-9C5D-A9BDB6CC6110}"/>
              </a:ext>
            </a:extLst>
          </p:cNvPr>
          <p:cNvPicPr>
            <a:picLocks noGrp="1" noChangeAspect="1"/>
          </p:cNvPicPr>
          <p:nvPr>
            <p:ph type="pic" sz="quarter" idx="16"/>
          </p:nvPr>
        </p:nvPicPr>
        <p:blipFill rotWithShape="1">
          <a:blip r:embed="rId5"/>
          <a:srcRect t="108" b="108"/>
          <a:stretch/>
        </p:blipFill>
        <p:spPr/>
      </p:pic>
    </p:spTree>
    <p:extLst>
      <p:ext uri="{BB962C8B-B14F-4D97-AF65-F5344CB8AC3E}">
        <p14:creationId xmlns:p14="http://schemas.microsoft.com/office/powerpoint/2010/main" val="927313156"/>
      </p:ext>
    </p:extLst>
  </p:cSld>
  <p:clrMapOvr>
    <a:masterClrMapping/>
  </p:clrMapOvr>
</p:sld>
</file>

<file path=ppt/theme/theme1.xml><?xml version="1.0" encoding="utf-8"?>
<a:theme xmlns:a="http://schemas.openxmlformats.org/drawingml/2006/main" name="GradientUnivers">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Univers"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919F73-B6C2-4A43-95E2-833EC48925FE}">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C8E00D1-8EA3-4E42-801D-0253E1EAFC21}">
  <ds:schemaRefs>
    <ds:schemaRef ds:uri="http://schemas.microsoft.com/sharepoint/v3/contenttype/forms"/>
  </ds:schemaRefs>
</ds:datastoreItem>
</file>

<file path=customXml/itemProps3.xml><?xml version="1.0" encoding="utf-8"?>
<ds:datastoreItem xmlns:ds="http://schemas.openxmlformats.org/officeDocument/2006/customXml" ds:itemID="{ABC329F5-30EE-4BF7-AA2A-B837B51416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{282B23BA-CF92-4DE5-B3D3-72DFFE9498CE}tf89338750_win32</Template>
  <TotalTime>9943</TotalTime>
  <Words>571</Words>
  <Application>Microsoft Office PowerPoint</Application>
  <PresentationFormat>Widescreen</PresentationFormat>
  <Paragraphs>63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Univers</vt:lpstr>
      <vt:lpstr>GradientUnivers</vt:lpstr>
      <vt:lpstr>COS 701 – H001 FALL 2022 Final Project</vt:lpstr>
      <vt:lpstr>Outline</vt:lpstr>
      <vt:lpstr>The Traveling Salesman Problem</vt:lpstr>
      <vt:lpstr>One thing to notice in this situation is that we are starting with 11 cities. Thus, the total number of possible routes is 11! Then, when adding in Madrid, this number climbs to 12!</vt:lpstr>
      <vt:lpstr>Distance Matrix without Madird</vt:lpstr>
      <vt:lpstr>Distance Matrix with Madrid</vt:lpstr>
      <vt:lpstr>ThE Minimal Distances</vt:lpstr>
      <vt:lpstr>The Routes without Madrid</vt:lpstr>
      <vt:lpstr>The Routes with Madrid</vt:lpstr>
      <vt:lpstr>The Cost</vt:lpstr>
      <vt:lpstr>The Cost (continued)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701 – H001 FALL 2022 Final Project</dc:title>
  <dc:creator>Rachel Prather</dc:creator>
  <cp:lastModifiedBy>Rachel Prather</cp:lastModifiedBy>
  <cp:revision>1</cp:revision>
  <dcterms:created xsi:type="dcterms:W3CDTF">2022-12-05T03:38:25Z</dcterms:created>
  <dcterms:modified xsi:type="dcterms:W3CDTF">2022-12-12T01:22:01Z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